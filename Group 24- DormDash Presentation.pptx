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12_38C5249A.xml" ContentType="application/vnd.ms-powerpoint.comments+xml"/>
  <Override PartName="/ppt/comments/modernComment_110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1" r:id="rId4"/>
    <p:sldId id="266" r:id="rId5"/>
    <p:sldId id="275" r:id="rId6"/>
    <p:sldId id="263" r:id="rId7"/>
    <p:sldId id="260" r:id="rId8"/>
    <p:sldId id="262" r:id="rId9"/>
    <p:sldId id="264" r:id="rId10"/>
    <p:sldId id="265" r:id="rId11"/>
    <p:sldId id="267" r:id="rId12"/>
    <p:sldId id="268" r:id="rId13"/>
    <p:sldId id="257" r:id="rId14"/>
    <p:sldId id="269" r:id="rId15"/>
    <p:sldId id="274" r:id="rId16"/>
    <p:sldId id="270" r:id="rId17"/>
    <p:sldId id="271" r:id="rId18"/>
    <p:sldId id="272" r:id="rId19"/>
    <p:sldId id="273" r:id="rId20"/>
  </p:sldIdLst>
  <p:sldSz cx="18288000" cy="10287000"/>
  <p:notesSz cx="6858000" cy="9144000"/>
  <p:embeddedFontLst>
    <p:embeddedFont>
      <p:font typeface="Playfair Display" panose="00000500000000000000" pitchFamily="2" charset="0"/>
      <p:regular r:id="rId21"/>
      <p:bold r:id="rId22"/>
      <p:italic r:id="rId23"/>
      <p:boldItalic r:id="rId24"/>
    </p:embeddedFont>
    <p:embeddedFont>
      <p:font typeface="Public Sans" panose="020B0604020202020204" charset="0"/>
      <p:regular r:id="rId25"/>
    </p:embeddedFont>
    <p:embeddedFont>
      <p:font typeface="Public Sans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5DF924-D165-8C05-19BE-E25F30930181}" name="Renee Zhu" initials="RZ" userId="S::yz1619@scarletmail.rutgers.edu::893302b4-8f8e-438d-865a-020b09734a02" providerId="AD"/>
  <p188:author id="{963EB4C0-5FE5-A401-AF08-1C56145D0BE1}" name="Mahek Parekh" initials="MP" userId="S::mmp313@scarletmail.rutgers.edu::ae4fdf98-da7b-4a61-bc74-e90f19e4bf6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F0243E-8BFC-9ECE-DFA9-2A062CD79794}" v="4" dt="2026-04-23T18:40:13.0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 autoAdjust="0"/>
    <p:restoredTop sz="94667" autoAdjust="0"/>
  </p:normalViewPr>
  <p:slideViewPr>
    <p:cSldViewPr>
      <p:cViewPr>
        <p:scale>
          <a:sx n="60" d="100"/>
          <a:sy n="60" d="100"/>
        </p:scale>
        <p:origin x="184" y="9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1BCA91-E382-384D-881B-46A5DCAE08DD}" authorId="{963EB4C0-5FE5-A401-AF08-1C56145D0BE1}" status="resolved" created="2026-04-15T15:38:34.638" complete="100000">
    <pc:sldMkLst xmlns:pc="http://schemas.microsoft.com/office/powerpoint/2013/main/command">
      <pc:docMk/>
      <pc:sldMk cId="0" sldId="272"/>
    </pc:sldMkLst>
    <p188:replyLst>
      <p188:reply id="{4D00FBED-F65A-4045-A054-E6F092BD2BD5}" authorId="{195DF924-D165-8C05-19BE-E25F30930181}" created="2026-04-15T16:10:02.242">
        <p188:txBody>
          <a:bodyPr/>
          <a:lstStyle/>
          <a:p>
            <a:r>
              <a:rPr lang="en-US"/>
              <a:t>fixed</a:t>
            </a:r>
          </a:p>
        </p188:txBody>
      </p188:reply>
    </p188:replyLst>
    <p188:txBody>
      <a:bodyPr/>
      <a:lstStyle/>
      <a:p>
        <a:r>
          <a:rPr lang="en-US"/>
          <a:t>This slide needs to be reformatted to match the others </a:t>
        </a:r>
      </a:p>
    </p188:txBody>
  </p188:cm>
</p188:cmLst>
</file>

<file path=ppt/comments/modernComment_112_38C524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C05041-BB93-9946-B9EB-E3D7AADEDF18}" authorId="{963EB4C0-5FE5-A401-AF08-1C56145D0BE1}" status="resolved" created="2026-04-15T15:39:03.711" complete="100000">
    <pc:sldMkLst xmlns:pc="http://schemas.microsoft.com/office/powerpoint/2013/main/command">
      <pc:docMk/>
      <pc:sldMk cId="952444058" sldId="274"/>
    </pc:sldMkLst>
    <p188:replyLst>
      <p188:reply id="{CC9628A4-D2E7-46CD-B634-0818084DF942}" authorId="{195DF924-D165-8C05-19BE-E25F30930181}" created="2026-04-15T16:10:24.961">
        <p188:txBody>
          <a:bodyPr/>
          <a:lstStyle/>
          <a:p>
            <a:r>
              <a:rPr lang="en-US"/>
              <a:t>fixed</a:t>
            </a:r>
          </a:p>
        </p188:txBody>
      </p188:reply>
    </p188:replyLst>
    <p188:txBody>
      <a:bodyPr/>
      <a:lstStyle/>
      <a:p>
        <a:r>
          <a:rPr lang="en-US"/>
          <a:t>This slide needs to be reformatted to match the others 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2_38C5249A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microsoft.com/office/2018/10/relationships/comments" Target="../comments/modernComment_110_0.xml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1.png"/><Relationship Id="rId4" Type="http://schemas.openxmlformats.org/officeDocument/2006/relationships/hyperlink" Target="https://pxhere.com/pt/photo/1436889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06882" y="4728792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Student-Run Convenience Delivery Service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962" y="2552689"/>
            <a:ext cx="16408332" cy="196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b="1" spc="83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DormDash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3091" y="9161114"/>
            <a:ext cx="10346918" cy="404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400" b="1" dirty="0">
                <a:solidFill>
                  <a:srgbClr val="2B2C30"/>
                </a:solidFill>
                <a:latin typeface="Playfair Display"/>
                <a:ea typeface="Public Sans"/>
                <a:cs typeface="Public Sans"/>
                <a:sym typeface="Public Sans"/>
              </a:rPr>
              <a:t>Created</a:t>
            </a:r>
            <a:r>
              <a:rPr lang="en-US" sz="2400" dirty="0">
                <a:solidFill>
                  <a:srgbClr val="2B2C30"/>
                </a:solidFill>
                <a:latin typeface="Playfair Display"/>
                <a:ea typeface="Public Sans"/>
                <a:cs typeface="Public Sans"/>
                <a:sym typeface="Public Sans"/>
              </a:rPr>
              <a:t> </a:t>
            </a:r>
            <a:r>
              <a:rPr lang="en-US" sz="2400" b="1" dirty="0">
                <a:solidFill>
                  <a:srgbClr val="2B2C30"/>
                </a:solidFill>
                <a:latin typeface="Playfair Display"/>
                <a:ea typeface="Public Sans"/>
                <a:cs typeface="Public Sans"/>
                <a:sym typeface="Public Sans"/>
              </a:rPr>
              <a:t>By</a:t>
            </a:r>
            <a:r>
              <a:rPr lang="en-US" sz="2400" dirty="0">
                <a:solidFill>
                  <a:srgbClr val="2B2C30"/>
                </a:solidFill>
                <a:latin typeface="Playfair Display"/>
                <a:ea typeface="Public Sans"/>
                <a:cs typeface="Public Sans"/>
                <a:sym typeface="Public Sans"/>
              </a:rPr>
              <a:t>: Mahek Parekh, Dora Do, Renee Zhu, Kunal Shah, Yue Su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A1BF03-7D67-D41E-62BE-52BC115AF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1527" y="7111905"/>
            <a:ext cx="6746473" cy="45045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219200" y="3480988"/>
            <a:ext cx="15750304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spc="30" dirty="0">
                <a:solidFill>
                  <a:srgbClr val="2B2C30"/>
                </a:solidFill>
                <a:latin typeface="Playfair Display"/>
                <a:ea typeface="+mn-lt"/>
                <a:cs typeface="+mn-lt"/>
              </a:rPr>
              <a:t>DormDash is a student-run, on-campus delivery service that provides essentials—such as food, snacks, drinks, school supplies, and personal care products—directly to students in dorms and apartments. </a:t>
            </a:r>
            <a:endParaRPr lang="en-US" sz="1000" dirty="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endParaRPr lang="en-US" sz="3600" spc="30" dirty="0">
              <a:solidFill>
                <a:srgbClr val="2B2C30"/>
              </a:solidFill>
              <a:latin typeface="Playfair Display"/>
              <a:ea typeface="+mn-lt"/>
              <a:cs typeface="+mn-lt"/>
            </a:endParaRPr>
          </a:p>
          <a:p>
            <a:r>
              <a:rPr lang="en-US" sz="3600" spc="30" dirty="0">
                <a:solidFill>
                  <a:srgbClr val="2B2C30"/>
                </a:solidFill>
                <a:latin typeface="Playfair Display"/>
                <a:ea typeface="+mn-lt"/>
                <a:cs typeface="+mn-lt"/>
              </a:rPr>
              <a:t>Orders are easily placed online and delivered by student drivers, offering fast and convenient service. </a:t>
            </a:r>
            <a:endParaRPr lang="en-US" sz="3600" spc="30" dirty="0">
              <a:solidFill>
                <a:srgbClr val="2B2C30"/>
              </a:solidFill>
              <a:latin typeface="Playfair Display"/>
              <a:ea typeface="Playfair Display"/>
              <a:cs typeface="Playfair Display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06871" y="942975"/>
            <a:ext cx="16230600" cy="60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>
                <a:solidFill>
                  <a:srgbClr val="2B2C30"/>
                </a:solidFill>
                <a:latin typeface="Public Sans Bold"/>
              </a:rPr>
              <a:t>Business Concept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18">
            <a:extLst>
              <a:ext uri="{FF2B5EF4-FFF2-40B4-BE49-F238E27FC236}">
                <a16:creationId xmlns:a16="http://schemas.microsoft.com/office/drawing/2014/main" id="{9EF452B0-C638-3FF0-8B42-4AFC36495CAF}"/>
              </a:ext>
            </a:extLst>
          </p:cNvPr>
          <p:cNvGrpSpPr/>
          <p:nvPr/>
        </p:nvGrpSpPr>
        <p:grpSpPr>
          <a:xfrm>
            <a:off x="1006871" y="2782119"/>
            <a:ext cx="16264717" cy="4837471"/>
            <a:chOff x="0" y="-28575"/>
            <a:chExt cx="4058845" cy="796349"/>
          </a:xfrm>
        </p:grpSpPr>
        <p:sp>
          <p:nvSpPr>
            <p:cNvPr id="8" name="Freeform 19">
              <a:extLst>
                <a:ext uri="{FF2B5EF4-FFF2-40B4-BE49-F238E27FC236}">
                  <a16:creationId xmlns:a16="http://schemas.microsoft.com/office/drawing/2014/main" id="{B0FA454C-AAFB-CEFD-E474-679646FCA5AF}"/>
                </a:ext>
              </a:extLst>
            </p:cNvPr>
            <p:cNvSpPr/>
            <p:nvPr/>
          </p:nvSpPr>
          <p:spPr>
            <a:xfrm>
              <a:off x="0" y="0"/>
              <a:ext cx="4058845" cy="767774"/>
            </a:xfrm>
            <a:custGeom>
              <a:avLst/>
              <a:gdLst/>
              <a:ahLst/>
              <a:cxnLst/>
              <a:rect l="l" t="t" r="r" b="b"/>
              <a:pathLst>
                <a:path w="4058845" h="767774">
                  <a:moveTo>
                    <a:pt x="0" y="0"/>
                  </a:moveTo>
                  <a:lnTo>
                    <a:pt x="4058845" y="0"/>
                  </a:lnTo>
                  <a:lnTo>
                    <a:pt x="4058845" y="767774"/>
                  </a:lnTo>
                  <a:lnTo>
                    <a:pt x="0" y="767774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20">
              <a:extLst>
                <a:ext uri="{FF2B5EF4-FFF2-40B4-BE49-F238E27FC236}">
                  <a16:creationId xmlns:a16="http://schemas.microsoft.com/office/drawing/2014/main" id="{362D47DE-11A1-023C-516A-7D05C18838BA}"/>
                </a:ext>
              </a:extLst>
            </p:cNvPr>
            <p:cNvSpPr txBox="1"/>
            <p:nvPr/>
          </p:nvSpPr>
          <p:spPr>
            <a:xfrm>
              <a:off x="0" y="-28575"/>
              <a:ext cx="2541055" cy="796349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A5DD448-525D-F9A7-FD46-042F19444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3600" y="7941587"/>
            <a:ext cx="4934607" cy="3293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09600" y="747170"/>
            <a:ext cx="16230600" cy="609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sym typeface="Public Sans Bold"/>
              </a:rPr>
              <a:t>Customer Value Proposition</a:t>
            </a:r>
            <a:endParaRPr lang="en-US" sz="3700" b="1" spc="843" dirty="0">
              <a:solidFill>
                <a:srgbClr val="2B2C30"/>
              </a:solidFill>
              <a:latin typeface="Public Sans Bold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609600" y="1562100"/>
            <a:ext cx="17068800" cy="0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50906" y="2792700"/>
            <a:ext cx="16208383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solidFill>
                  <a:srgbClr val="2B2C30"/>
                </a:solidFill>
                <a:latin typeface="Playfair Display"/>
                <a:ea typeface="+mn-lt"/>
                <a:cs typeface="+mn-lt"/>
                <a:sym typeface="Public Sans"/>
              </a:rPr>
              <a:t>DormDash offers reliable, affordable, and fast delivery of everyday essentials directly to students’ dorms and nearby apartments. </a:t>
            </a:r>
            <a:endParaRPr lang="en-US" dirty="0">
              <a:solidFill>
                <a:srgbClr val="000000"/>
              </a:solidFill>
              <a:latin typeface="Calibri"/>
              <a:ea typeface="+mn-lt"/>
              <a:cs typeface="+mn-lt"/>
              <a:sym typeface="Public Sans"/>
            </a:endParaRPr>
          </a:p>
          <a:p>
            <a:pPr marL="571500" indent="-571500">
              <a:buFont typeface="Arial"/>
              <a:buChar char="•"/>
            </a:pPr>
            <a:endParaRPr lang="en-US" sz="3600" dirty="0">
              <a:solidFill>
                <a:srgbClr val="2B2C30"/>
              </a:solidFill>
              <a:latin typeface="Playfair Display"/>
              <a:ea typeface="+mn-lt"/>
              <a:cs typeface="+mn-lt"/>
              <a:sym typeface="Public Sans"/>
            </a:endParaRPr>
          </a:p>
          <a:p>
            <a:r>
              <a:rPr lang="en-US" sz="3600" dirty="0">
                <a:solidFill>
                  <a:srgbClr val="2B2C30"/>
                </a:solidFill>
                <a:latin typeface="Playfair Display"/>
                <a:ea typeface="+mn-lt"/>
                <a:cs typeface="+mn-lt"/>
                <a:sym typeface="Public Sans"/>
              </a:rPr>
              <a:t>Designed specifically for campus life, it understands students’ schedules, locations, and needs. </a:t>
            </a:r>
            <a:endParaRPr lang="en-US" dirty="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 marL="571500" indent="-571500">
              <a:buFont typeface="Arial"/>
              <a:buChar char="•"/>
            </a:pPr>
            <a:endParaRPr lang="en-US" sz="3600" dirty="0">
              <a:solidFill>
                <a:srgbClr val="2B2C30"/>
              </a:solidFill>
              <a:latin typeface="Playfair Display"/>
              <a:ea typeface="+mn-lt"/>
              <a:cs typeface="+mn-lt"/>
              <a:sym typeface="Public Sans"/>
            </a:endParaRPr>
          </a:p>
          <a:p>
            <a:r>
              <a:rPr lang="en-US" sz="3600" dirty="0">
                <a:solidFill>
                  <a:srgbClr val="2B2C30"/>
                </a:solidFill>
                <a:latin typeface="Playfair Display"/>
                <a:ea typeface="+mn-lt"/>
                <a:cs typeface="+mn-lt"/>
                <a:sym typeface="Public Sans"/>
              </a:rPr>
              <a:t>By partnering with on-campus stores and using student delivery riders, it ensures quick service, lower costs, and consistent reliability—helping students save time, money, and effort during their busy schedules.</a:t>
            </a:r>
            <a:endParaRPr lang="en-US" dirty="0">
              <a:ea typeface="Calibri"/>
              <a:cs typeface="Calibri"/>
            </a:endParaRPr>
          </a:p>
          <a:p>
            <a:endParaRPr lang="en-US" sz="3600" dirty="0">
              <a:solidFill>
                <a:srgbClr val="2B2C30"/>
              </a:solidFill>
              <a:latin typeface="Playfair Display"/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FC409-2579-6E25-8831-F5D678EF3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3600" y="7941587"/>
            <a:ext cx="4934607" cy="3293820"/>
          </a:xfrm>
          <a:prstGeom prst="rect">
            <a:avLst/>
          </a:prstGeom>
        </p:spPr>
      </p:pic>
      <p:grpSp>
        <p:nvGrpSpPr>
          <p:cNvPr id="3" name="Group 18">
            <a:extLst>
              <a:ext uri="{FF2B5EF4-FFF2-40B4-BE49-F238E27FC236}">
                <a16:creationId xmlns:a16="http://schemas.microsoft.com/office/drawing/2014/main" id="{2A606021-CFB2-8CE8-25FF-E5E6A2A3FDAA}"/>
              </a:ext>
            </a:extLst>
          </p:cNvPr>
          <p:cNvGrpSpPr/>
          <p:nvPr/>
        </p:nvGrpSpPr>
        <p:grpSpPr>
          <a:xfrm>
            <a:off x="609601" y="1954322"/>
            <a:ext cx="17068800" cy="6897103"/>
            <a:chOff x="0" y="-28575"/>
            <a:chExt cx="4058845" cy="796349"/>
          </a:xfrm>
        </p:grpSpPr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id="{AEBBFFE6-373D-C4AF-45B5-E0DB7DCC85A7}"/>
                </a:ext>
              </a:extLst>
            </p:cNvPr>
            <p:cNvSpPr/>
            <p:nvPr/>
          </p:nvSpPr>
          <p:spPr>
            <a:xfrm>
              <a:off x="0" y="0"/>
              <a:ext cx="4058845" cy="767774"/>
            </a:xfrm>
            <a:custGeom>
              <a:avLst/>
              <a:gdLst/>
              <a:ahLst/>
              <a:cxnLst/>
              <a:rect l="l" t="t" r="r" b="b"/>
              <a:pathLst>
                <a:path w="4058845" h="767774">
                  <a:moveTo>
                    <a:pt x="0" y="0"/>
                  </a:moveTo>
                  <a:lnTo>
                    <a:pt x="4058845" y="0"/>
                  </a:lnTo>
                  <a:lnTo>
                    <a:pt x="4058845" y="767774"/>
                  </a:lnTo>
                  <a:lnTo>
                    <a:pt x="0" y="767774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20">
              <a:extLst>
                <a:ext uri="{FF2B5EF4-FFF2-40B4-BE49-F238E27FC236}">
                  <a16:creationId xmlns:a16="http://schemas.microsoft.com/office/drawing/2014/main" id="{CFF929EC-2727-0FF4-FF9F-5F9516C8790A}"/>
                </a:ext>
              </a:extLst>
            </p:cNvPr>
            <p:cNvSpPr txBox="1"/>
            <p:nvPr/>
          </p:nvSpPr>
          <p:spPr>
            <a:xfrm>
              <a:off x="0" y="-28575"/>
              <a:ext cx="2541055" cy="796349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474732" y="1461263"/>
            <a:ext cx="17286842" cy="9681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96569" y="655878"/>
            <a:ext cx="16230600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sym typeface="Public Sans Bold"/>
              </a:rPr>
              <a:t>Business Statements</a:t>
            </a:r>
            <a:endParaRPr lang="en-US" sz="3700" dirty="0"/>
          </a:p>
        </p:txBody>
      </p:sp>
      <p:sp>
        <p:nvSpPr>
          <p:cNvPr id="8" name="TextBox 8"/>
          <p:cNvSpPr txBox="1"/>
          <p:nvPr/>
        </p:nvSpPr>
        <p:spPr>
          <a:xfrm>
            <a:off x="726171" y="2280392"/>
            <a:ext cx="8122275" cy="7022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b="1" dirty="0">
                <a:solidFill>
                  <a:srgbClr val="2B2C30"/>
                </a:solidFill>
                <a:latin typeface="Playfair Display"/>
              </a:rPr>
              <a:t>Vision</a:t>
            </a:r>
          </a:p>
          <a:p>
            <a:pPr algn="ctr"/>
            <a:endParaRPr lang="en-US" sz="2400" dirty="0">
              <a:solidFill>
                <a:srgbClr val="2B2C30"/>
              </a:solidFill>
              <a:latin typeface="Playfair Display"/>
            </a:endParaRPr>
          </a:p>
          <a:p>
            <a:pPr algn="ctr"/>
            <a:r>
              <a:rPr lang="en-US" sz="2400" dirty="0">
                <a:solidFill>
                  <a:srgbClr val="2B2C30"/>
                </a:solidFill>
                <a:latin typeface="Playfair Display"/>
              </a:rPr>
              <a:t>Transforming campus life by making everyday essentials more accessible and convenient for students. </a:t>
            </a:r>
          </a:p>
          <a:p>
            <a:pPr algn="ctr"/>
            <a:endParaRPr lang="en-US" sz="2400" dirty="0">
              <a:solidFill>
                <a:srgbClr val="2B2C30"/>
              </a:solidFill>
              <a:latin typeface="Playfair Display"/>
            </a:endParaRPr>
          </a:p>
          <a:p>
            <a:endParaRPr lang="en-US" sz="2000" dirty="0">
              <a:solidFill>
                <a:srgbClr val="2B2C30"/>
              </a:solidFill>
              <a:latin typeface="Playfair Display"/>
            </a:endParaRPr>
          </a:p>
          <a:p>
            <a:pPr algn="ctr"/>
            <a:r>
              <a:rPr lang="en-US" sz="3200" b="1" dirty="0">
                <a:solidFill>
                  <a:srgbClr val="2B2C30"/>
                </a:solidFill>
                <a:latin typeface="Playfair Display"/>
              </a:rPr>
              <a:t>Mission</a:t>
            </a:r>
          </a:p>
          <a:p>
            <a:pPr algn="ctr"/>
            <a:endParaRPr lang="en-US" sz="2800" b="1" dirty="0">
              <a:solidFill>
                <a:srgbClr val="2B2C30"/>
              </a:solidFill>
              <a:latin typeface="Playfair Display"/>
            </a:endParaRPr>
          </a:p>
          <a:p>
            <a:pPr algn="ctr"/>
            <a:r>
              <a:rPr lang="en-US" sz="2400" dirty="0">
                <a:solidFill>
                  <a:srgbClr val="2B2C30"/>
                </a:solidFill>
                <a:latin typeface="Playfair Display"/>
                <a:ea typeface="+mn-lt"/>
                <a:cs typeface="+mn-lt"/>
              </a:rPr>
              <a:t>DormDash provides college students living on campus with fast, reliable, and affordable delivery of everyday essentials, including food, drinks, school supplies, and personal care items. By partnering with on-campus businesses and employing student drivers, DormDash offers a more convenient, cost-effective, and student-focused alternative to traditional delivery services. </a:t>
            </a:r>
            <a:endParaRPr lang="en-US" sz="2400" dirty="0"/>
          </a:p>
          <a:p>
            <a:endParaRPr lang="en-US" sz="2000" dirty="0">
              <a:solidFill>
                <a:srgbClr val="2B2C30"/>
              </a:solidFill>
              <a:latin typeface="Playfair Display"/>
            </a:endParaRPr>
          </a:p>
          <a:p>
            <a:endParaRPr lang="en-US" sz="2000" dirty="0">
              <a:solidFill>
                <a:srgbClr val="2B2C30"/>
              </a:solidFill>
              <a:latin typeface="Playfair Display"/>
            </a:endParaRPr>
          </a:p>
          <a:p>
            <a:r>
              <a:rPr lang="en-US" sz="2000" dirty="0">
                <a:solidFill>
                  <a:srgbClr val="2B2C30"/>
                </a:solidFill>
                <a:latin typeface="Playfair Display"/>
              </a:rPr>
              <a:t> </a:t>
            </a:r>
            <a:endParaRPr lang="en-US" sz="2000" dirty="0">
              <a:ea typeface="Calibri"/>
              <a:cs typeface="Calibri"/>
            </a:endParaRPr>
          </a:p>
          <a:p>
            <a:pPr>
              <a:lnSpc>
                <a:spcPts val="2659"/>
              </a:lnSpc>
            </a:pPr>
            <a:endParaRPr lang="en-US" sz="1850" dirty="0">
              <a:solidFill>
                <a:srgbClr val="2B2C30"/>
              </a:solidFill>
              <a:latin typeface="Playfair Display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29F83E3-1080-07B0-863D-E7D9A1108F6B}"/>
              </a:ext>
            </a:extLst>
          </p:cNvPr>
          <p:cNvSpPr txBox="1"/>
          <p:nvPr/>
        </p:nvSpPr>
        <p:spPr>
          <a:xfrm>
            <a:off x="9701463" y="2280392"/>
            <a:ext cx="7860366" cy="735073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500"/>
              </a:spcAft>
            </a:pPr>
            <a:r>
              <a:rPr lang="en-US" sz="3200" b="1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Core Values </a:t>
            </a:r>
          </a:p>
          <a:p>
            <a:pPr>
              <a:spcAft>
                <a:spcPts val="500"/>
              </a:spcAft>
            </a:pPr>
            <a:endParaRPr lang="en-US" sz="2800" b="1" dirty="0">
              <a:solidFill>
                <a:srgbClr val="2B2C30"/>
              </a:solidFill>
              <a:latin typeface="Playfair Display" pitchFamily="2" charset="77"/>
              <a:ea typeface="+mn-lt"/>
              <a:cs typeface="+mn-lt"/>
            </a:endParaRPr>
          </a:p>
          <a:p>
            <a:pPr marL="800100" lvl="1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Put Students First</a:t>
            </a: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: DormDash places students at the center of everything we do by ensuring our services are convenient, affordable and reliable.</a:t>
            </a:r>
          </a:p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Playfair Display" pitchFamily="2" charset="77"/>
              <a:ea typeface="Calibri"/>
              <a:cs typeface="Calibri"/>
            </a:endParaRPr>
          </a:p>
          <a:p>
            <a:pPr marL="800100" lvl="1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Speed and Quality:</a:t>
            </a: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 We are committed to fast delivery while maintaining high-quality service, ensuring students receive what they need in a timely manner. </a:t>
            </a:r>
          </a:p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Playfair Display" pitchFamily="2" charset="77"/>
              <a:ea typeface="+mn-lt"/>
              <a:cs typeface="+mn-lt"/>
            </a:endParaRPr>
          </a:p>
          <a:p>
            <a:pPr marL="800100" lvl="1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Accessibility and Affordability:</a:t>
            </a: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 We maintain competitive pricing and support accessible payment options to ensure our services are available to all students. </a:t>
            </a:r>
          </a:p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Playfair Display" pitchFamily="2" charset="77"/>
              <a:ea typeface="Calibri"/>
              <a:cs typeface="Calibri"/>
            </a:endParaRPr>
          </a:p>
          <a:p>
            <a:pPr marL="800100" lvl="1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Community Focused:</a:t>
            </a: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 DormDash strengthens the campus community by partnering with local and on-campus businesses.</a:t>
            </a:r>
          </a:p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B2C30"/>
              </a:solidFill>
              <a:latin typeface="Playfair Display" pitchFamily="2" charset="77"/>
              <a:ea typeface="+mn-lt"/>
              <a:cs typeface="+mn-lt"/>
            </a:endParaRPr>
          </a:p>
          <a:p>
            <a:pPr marL="800100" lvl="1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B2C30"/>
                </a:solidFill>
                <a:latin typeface="Playfair Display" pitchFamily="2" charset="77"/>
                <a:ea typeface="Calibri"/>
                <a:cs typeface="Calibri"/>
              </a:rPr>
              <a:t>Integrity and Reliability: </a:t>
            </a: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Calibri"/>
                <a:cs typeface="Calibri"/>
              </a:rPr>
              <a:t>We build trust through consistent, honest service by delivering what we promise, when we promise it.</a:t>
            </a:r>
            <a:endParaRPr lang="en-US" sz="2000" dirty="0">
              <a:latin typeface="Playfair Display" pitchFamily="2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F5769E-09F4-59C9-29CC-58B7009E36AE}"/>
              </a:ext>
            </a:extLst>
          </p:cNvPr>
          <p:cNvSpPr/>
          <p:nvPr/>
        </p:nvSpPr>
        <p:spPr>
          <a:xfrm>
            <a:off x="504589" y="1980906"/>
            <a:ext cx="8613564" cy="794970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920EDC-DBC1-5195-7B7C-71DFCD90FE37}"/>
              </a:ext>
            </a:extLst>
          </p:cNvPr>
          <p:cNvSpPr/>
          <p:nvPr/>
        </p:nvSpPr>
        <p:spPr>
          <a:xfrm>
            <a:off x="9455818" y="1980906"/>
            <a:ext cx="8327593" cy="795938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DCFBA-3384-7832-4B45-03EB1691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7016AFC-E984-5C3A-8E04-E6872E7AF1D3}"/>
              </a:ext>
            </a:extLst>
          </p:cNvPr>
          <p:cNvSpPr txBox="1"/>
          <p:nvPr/>
        </p:nvSpPr>
        <p:spPr>
          <a:xfrm>
            <a:off x="1028695" y="600950"/>
            <a:ext cx="16230600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</a:rPr>
              <a:t>Financial and Strategic Objectives 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17A0B-FADB-E085-4901-DBD454348415}"/>
              </a:ext>
            </a:extLst>
          </p:cNvPr>
          <p:cNvSpPr/>
          <p:nvPr/>
        </p:nvSpPr>
        <p:spPr>
          <a:xfrm flipV="1">
            <a:off x="1028695" y="1312722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D9A48C-6755-E0B9-3DC5-F6F8C60F7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3600" y="7941587"/>
            <a:ext cx="4934607" cy="32938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B8E92B-1B6B-7F0C-90E7-2FBC0009E387}"/>
              </a:ext>
            </a:extLst>
          </p:cNvPr>
          <p:cNvSpPr/>
          <p:nvPr/>
        </p:nvSpPr>
        <p:spPr>
          <a:xfrm>
            <a:off x="1347717" y="2337179"/>
            <a:ext cx="7083756" cy="61622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4EA52B-EDDB-BBB0-E1BA-DA4C34778BBC}"/>
              </a:ext>
            </a:extLst>
          </p:cNvPr>
          <p:cNvSpPr/>
          <p:nvPr/>
        </p:nvSpPr>
        <p:spPr>
          <a:xfrm>
            <a:off x="9527842" y="2337179"/>
            <a:ext cx="7083757" cy="61196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EFBB8D-F44C-9172-4B19-8CD69640609E}"/>
              </a:ext>
            </a:extLst>
          </p:cNvPr>
          <p:cNvSpPr txBox="1"/>
          <p:nvPr/>
        </p:nvSpPr>
        <p:spPr>
          <a:xfrm>
            <a:off x="1347717" y="2379828"/>
            <a:ext cx="6690453" cy="6427401"/>
          </a:xfrm>
          <a:prstGeom prst="rect">
            <a:avLst/>
          </a:prstGeom>
          <a:ln w="28575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182880"/>
            <a:r>
              <a:rPr lang="en-US" sz="3200" b="1" dirty="0">
                <a:solidFill>
                  <a:srgbClr val="2B2C30"/>
                </a:solidFill>
                <a:latin typeface="Playfair Display"/>
                <a:ea typeface="Calibri"/>
                <a:cs typeface="Calibri"/>
              </a:rPr>
              <a:t>Financial Objectives</a:t>
            </a:r>
            <a:endParaRPr lang="en-US" sz="3200" b="1" dirty="0">
              <a:solidFill>
                <a:srgbClr val="2B2C30"/>
              </a:solidFill>
              <a:latin typeface="Playfair Display"/>
              <a:ea typeface="+mn-lt"/>
              <a:cs typeface="+mn-lt"/>
            </a:endParaRPr>
          </a:p>
          <a:p>
            <a:pPr marL="182880">
              <a:spcAft>
                <a:spcPts val="1000"/>
              </a:spcAft>
            </a:pPr>
            <a:endParaRPr lang="en-US" sz="2800" dirty="0">
              <a:solidFill>
                <a:srgbClr val="2B2C30"/>
              </a:solidFill>
              <a:latin typeface="Playfair Display"/>
              <a:ea typeface="+mn-lt"/>
              <a:cs typeface="+mn-lt"/>
            </a:endParaRPr>
          </a:p>
          <a:p>
            <a:pPr marL="64008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2C30"/>
                </a:solidFill>
                <a:latin typeface="Playfair Display"/>
                <a:ea typeface="+mn-lt"/>
                <a:cs typeface="+mn-lt"/>
              </a:rPr>
              <a:t>Earn $130,000 in total sales revenue by the end of the first year of operation</a:t>
            </a:r>
          </a:p>
          <a:p>
            <a:pPr marL="182880">
              <a:spcAft>
                <a:spcPts val="1000"/>
              </a:spcAft>
            </a:pPr>
            <a:endParaRPr lang="en-US" sz="2400" dirty="0">
              <a:ea typeface="+mn-lt"/>
              <a:cs typeface="Calibri"/>
            </a:endParaRPr>
          </a:p>
          <a:p>
            <a:pPr marL="64008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2C30"/>
                </a:solidFill>
                <a:latin typeface="Playfair Display"/>
                <a:ea typeface="+mn-lt"/>
                <a:cs typeface="+mn-lt"/>
              </a:rPr>
              <a:t>Reach positive monthly cash flow by month 6 of operation</a:t>
            </a:r>
          </a:p>
          <a:p>
            <a:pPr marL="182880">
              <a:spcAft>
                <a:spcPts val="1000"/>
              </a:spcAft>
            </a:pPr>
            <a:endParaRPr lang="en-US" sz="2400" dirty="0">
              <a:ea typeface="+mn-lt"/>
              <a:cs typeface="Calibri"/>
            </a:endParaRPr>
          </a:p>
          <a:p>
            <a:pPr marL="64008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2C30"/>
                </a:solidFill>
                <a:latin typeface="Playfair Display"/>
                <a:ea typeface="+mn-lt"/>
                <a:cs typeface="+mn-lt"/>
              </a:rPr>
              <a:t>Pay off half of borrowed debt within 2 years of full operation</a:t>
            </a:r>
          </a:p>
          <a:p>
            <a:pPr marL="182880">
              <a:spcAft>
                <a:spcPts val="1000"/>
              </a:spcAft>
            </a:pPr>
            <a:endParaRPr lang="en-US" sz="1600" dirty="0">
              <a:solidFill>
                <a:srgbClr val="2B2C30"/>
              </a:solidFill>
              <a:latin typeface="Playfair Display"/>
              <a:ea typeface="+mn-lt"/>
              <a:cs typeface="+mn-lt"/>
            </a:endParaRPr>
          </a:p>
          <a:p>
            <a:pPr marL="182880">
              <a:spcAft>
                <a:spcPts val="1000"/>
              </a:spcAft>
            </a:pPr>
            <a:endParaRPr lang="en-US" sz="1200" dirty="0">
              <a:solidFill>
                <a:srgbClr val="2B2C30"/>
              </a:solidFill>
              <a:latin typeface="Playfair Display"/>
              <a:ea typeface="+mn-lt"/>
              <a:cs typeface="+mn-lt"/>
            </a:endParaRPr>
          </a:p>
          <a:p>
            <a:pPr marL="182880">
              <a:spcAft>
                <a:spcPts val="1000"/>
              </a:spcAft>
            </a:pPr>
            <a:endParaRPr lang="en-US" sz="1200" dirty="0">
              <a:solidFill>
                <a:srgbClr val="2B2C30"/>
              </a:solidFill>
              <a:latin typeface="Playfair Display"/>
              <a:ea typeface="+mn-lt"/>
              <a:cs typeface="+mn-lt"/>
            </a:endParaRPr>
          </a:p>
          <a:p>
            <a:pPr marL="182880">
              <a:spcAft>
                <a:spcPts val="1000"/>
              </a:spcAft>
            </a:pPr>
            <a:endParaRPr lang="en-US" sz="1200" dirty="0">
              <a:solidFill>
                <a:srgbClr val="2B2C30"/>
              </a:solidFill>
              <a:latin typeface="Playfair Display"/>
              <a:ea typeface="+mn-lt"/>
              <a:cs typeface="+mn-lt"/>
            </a:endParaRPr>
          </a:p>
          <a:p>
            <a:pPr marL="182880">
              <a:spcAft>
                <a:spcPts val="1000"/>
              </a:spcAft>
            </a:pPr>
            <a:endParaRPr lang="en-US" sz="1200" dirty="0">
              <a:solidFill>
                <a:srgbClr val="2B2C30"/>
              </a:solidFill>
              <a:latin typeface="Playfair Display"/>
              <a:ea typeface="+mn-lt"/>
              <a:cs typeface="+mn-lt"/>
            </a:endParaRPr>
          </a:p>
          <a:p>
            <a:pPr marL="182880">
              <a:spcAft>
                <a:spcPts val="1000"/>
              </a:spcAft>
            </a:pPr>
            <a:endParaRPr lang="en-US" sz="600" dirty="0">
              <a:solidFill>
                <a:srgbClr val="2B2C30"/>
              </a:solidFill>
              <a:latin typeface="Playfair Display"/>
              <a:ea typeface="+mn-lt"/>
              <a:cs typeface="+mn-lt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B338477-C099-BD98-CDF8-AAFA23268315}"/>
              </a:ext>
            </a:extLst>
          </p:cNvPr>
          <p:cNvSpPr txBox="1"/>
          <p:nvPr/>
        </p:nvSpPr>
        <p:spPr>
          <a:xfrm>
            <a:off x="9527842" y="2379828"/>
            <a:ext cx="6840940" cy="6119624"/>
          </a:xfrm>
          <a:prstGeom prst="rect">
            <a:avLst/>
          </a:prstGeom>
          <a:ln w="28575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182880"/>
            <a:r>
              <a:rPr lang="en-US" sz="3200" b="1" dirty="0">
                <a:solidFill>
                  <a:srgbClr val="2B2C30"/>
                </a:solidFill>
                <a:latin typeface="Playfair Display"/>
                <a:ea typeface="Calibri"/>
                <a:cs typeface="Calibri"/>
              </a:rPr>
              <a:t>Strategic Objectives</a:t>
            </a:r>
            <a:endParaRPr lang="en-US" sz="3200" b="1" dirty="0">
              <a:solidFill>
                <a:srgbClr val="2B2C30"/>
              </a:solidFill>
              <a:latin typeface="Playfair Display"/>
              <a:ea typeface="+mn-lt"/>
              <a:cs typeface="+mn-lt"/>
            </a:endParaRPr>
          </a:p>
          <a:p>
            <a:pPr marL="182880"/>
            <a:endParaRPr lang="en-US" sz="2800" dirty="0">
              <a:solidFill>
                <a:srgbClr val="2B2C30"/>
              </a:solidFill>
              <a:latin typeface="Playfair Display"/>
              <a:ea typeface="+mn-lt"/>
              <a:cs typeface="+mn-lt"/>
            </a:endParaRPr>
          </a:p>
          <a:p>
            <a:pPr marL="64008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2C30"/>
                </a:solidFill>
                <a:latin typeface="Playfair Display"/>
                <a:ea typeface="+mn-lt"/>
                <a:cs typeface="+mn-lt"/>
              </a:rPr>
              <a:t>Increase monthly active app users by at least 150 customers per month during the first year of operation</a:t>
            </a:r>
          </a:p>
          <a:p>
            <a:pPr marL="64008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marL="64008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2C30"/>
                </a:solidFill>
                <a:latin typeface="Playfair Display"/>
                <a:ea typeface="+mn-lt"/>
                <a:cs typeface="+mn-lt"/>
              </a:rPr>
              <a:t>Grow Instagram and </a:t>
            </a:r>
            <a:r>
              <a:rPr lang="en-US" sz="2400" dirty="0" err="1">
                <a:solidFill>
                  <a:srgbClr val="2B2C30"/>
                </a:solidFill>
                <a:latin typeface="Playfair Display"/>
                <a:ea typeface="+mn-lt"/>
                <a:cs typeface="+mn-lt"/>
              </a:rPr>
              <a:t>Tiktok</a:t>
            </a:r>
            <a:r>
              <a:rPr lang="en-US" sz="2400" dirty="0">
                <a:solidFill>
                  <a:srgbClr val="2B2C30"/>
                </a:solidFill>
                <a:latin typeface="Playfair Display"/>
                <a:ea typeface="+mn-lt"/>
                <a:cs typeface="+mn-lt"/>
              </a:rPr>
              <a:t> platforms to a total of 10,000 followers by the end of the first full year of operation</a:t>
            </a:r>
          </a:p>
          <a:p>
            <a:pPr marL="64008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marL="64008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B2C30"/>
                </a:solidFill>
                <a:latin typeface="Playfair Display"/>
                <a:ea typeface="+mn-lt"/>
                <a:cs typeface="+mn-lt"/>
              </a:rPr>
              <a:t>Partner with at least five local grocery and convenience stores within the first 12 months of operation.</a:t>
            </a:r>
          </a:p>
          <a:p>
            <a:pPr marL="182880">
              <a:spcAft>
                <a:spcPts val="1000"/>
              </a:spcAft>
            </a:pPr>
            <a:endParaRPr lang="en-US" sz="2800" dirty="0">
              <a:solidFill>
                <a:srgbClr val="2B2C30"/>
              </a:solidFill>
              <a:latin typeface="Playfair Display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54521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30603" y="848962"/>
            <a:ext cx="16230600" cy="62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sym typeface="Public Sans Bold"/>
              </a:rPr>
              <a:t>CSR Strategy for Global Expansion </a:t>
            </a:r>
            <a:endParaRPr lang="en-US" dirty="0"/>
          </a:p>
        </p:txBody>
      </p:sp>
      <p:sp>
        <p:nvSpPr>
          <p:cNvPr id="5" name="AutoShape 5"/>
          <p:cNvSpPr/>
          <p:nvPr/>
        </p:nvSpPr>
        <p:spPr>
          <a:xfrm>
            <a:off x="805396" y="1608836"/>
            <a:ext cx="15882404" cy="0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75396" y="2545769"/>
            <a:ext cx="7970507" cy="51954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endParaRPr lang="en-US" sz="2400" b="1" dirty="0">
              <a:solidFill>
                <a:srgbClr val="2B2C30"/>
              </a:solidFill>
              <a:latin typeface="Playfair Display" pitchFamily="2" charset="77"/>
              <a:ea typeface="Public Sans"/>
              <a:cs typeface="Public Sans"/>
              <a:sym typeface="Public Sans"/>
            </a:endParaRPr>
          </a:p>
          <a:p>
            <a:pPr algn="l">
              <a:lnSpc>
                <a:spcPct val="150000"/>
              </a:lnSpc>
            </a:pPr>
            <a:endParaRPr lang="en-US" sz="2400" b="1" dirty="0">
              <a:solidFill>
                <a:srgbClr val="2B2C30"/>
              </a:solidFill>
              <a:latin typeface="Playfair Display" pitchFamily="2" charset="77"/>
              <a:ea typeface="Public Sans"/>
              <a:cs typeface="Public Sans"/>
              <a:sym typeface="Public Sans"/>
            </a:endParaRPr>
          </a:p>
          <a:p>
            <a:pPr algn="l">
              <a:lnSpc>
                <a:spcPct val="150000"/>
              </a:lnSpc>
            </a:pPr>
            <a:endParaRPr lang="en-US" sz="2400" b="1" dirty="0">
              <a:solidFill>
                <a:srgbClr val="2B2C30"/>
              </a:solidFill>
              <a:latin typeface="Playfair Display" pitchFamily="2" charset="77"/>
              <a:ea typeface="Public Sans"/>
              <a:cs typeface="Public Sans"/>
              <a:sym typeface="Public Sans"/>
            </a:endParaRPr>
          </a:p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Strategic Role of CSR in Global Expansion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Builds trust in new international markets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Strengthens brand reputation across global markets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Supports long-term scalability and partnerships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Aligns with local cultural and environmental expectations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                                                                                </a:t>
            </a:r>
          </a:p>
          <a:p>
            <a:pPr marL="457200" indent="-457200" algn="l">
              <a:lnSpc>
                <a:spcPts val="4199"/>
              </a:lnSpc>
              <a:buFont typeface="Arial" panose="020B0604020202020204" pitchFamily="34" charset="0"/>
              <a:buChar char="•"/>
            </a:pP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8B5126-87D9-2DC3-225C-C0FDE2C985C2}"/>
              </a:ext>
            </a:extLst>
          </p:cNvPr>
          <p:cNvSpPr txBox="1"/>
          <p:nvPr/>
        </p:nvSpPr>
        <p:spPr>
          <a:xfrm>
            <a:off x="9512099" y="2189900"/>
            <a:ext cx="7924800" cy="7248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Key Initiatives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Sustainable Delivery Methods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Implement low-emission delivery options (E-scooters, bikes)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Reduces environmental impact as operations expand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Meets global sustainability expectations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Fair Employee Commitment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Provide fair wages, flexible scheduling , and safe working conditions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Complies with local labor laws and employment standards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Improves retention and strengthens employer brand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Reduce Campus Waste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Partner with universities and local vendors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Redistribute surplus food to students and local communities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Support sustainability goals and social impact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B2C30"/>
              </a:solidFill>
              <a:latin typeface="Playfair Display" pitchFamily="2" charset="77"/>
              <a:ea typeface="Public Sans"/>
              <a:cs typeface="Public Sans"/>
              <a:sym typeface="Public Sans"/>
            </a:endParaRPr>
          </a:p>
          <a:p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10798D2-CB6D-DCEB-9D5D-75A540B6A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3600" y="7941587"/>
            <a:ext cx="4934607" cy="3293820"/>
          </a:xfrm>
          <a:prstGeom prst="rect">
            <a:avLst/>
          </a:prstGeom>
        </p:spPr>
      </p:pic>
      <p:grpSp>
        <p:nvGrpSpPr>
          <p:cNvPr id="26" name="Group 18">
            <a:extLst>
              <a:ext uri="{FF2B5EF4-FFF2-40B4-BE49-F238E27FC236}">
                <a16:creationId xmlns:a16="http://schemas.microsoft.com/office/drawing/2014/main" id="{EB639E29-E48E-D65A-D61F-F26FD1B1C607}"/>
              </a:ext>
            </a:extLst>
          </p:cNvPr>
          <p:cNvGrpSpPr/>
          <p:nvPr/>
        </p:nvGrpSpPr>
        <p:grpSpPr>
          <a:xfrm>
            <a:off x="805396" y="3620533"/>
            <a:ext cx="7970507" cy="3843352"/>
            <a:chOff x="0" y="-28575"/>
            <a:chExt cx="4058845" cy="796349"/>
          </a:xfrm>
        </p:grpSpPr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E6676054-A94B-047B-F3AE-756B6897035C}"/>
                </a:ext>
              </a:extLst>
            </p:cNvPr>
            <p:cNvSpPr/>
            <p:nvPr/>
          </p:nvSpPr>
          <p:spPr>
            <a:xfrm>
              <a:off x="0" y="0"/>
              <a:ext cx="4058845" cy="767774"/>
            </a:xfrm>
            <a:custGeom>
              <a:avLst/>
              <a:gdLst/>
              <a:ahLst/>
              <a:cxnLst/>
              <a:rect l="l" t="t" r="r" b="b"/>
              <a:pathLst>
                <a:path w="4058845" h="767774">
                  <a:moveTo>
                    <a:pt x="0" y="0"/>
                  </a:moveTo>
                  <a:lnTo>
                    <a:pt x="4058845" y="0"/>
                  </a:lnTo>
                  <a:lnTo>
                    <a:pt x="4058845" y="767774"/>
                  </a:lnTo>
                  <a:lnTo>
                    <a:pt x="0" y="767774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0">
              <a:extLst>
                <a:ext uri="{FF2B5EF4-FFF2-40B4-BE49-F238E27FC236}">
                  <a16:creationId xmlns:a16="http://schemas.microsoft.com/office/drawing/2014/main" id="{50CF6F4E-4FCC-E0C6-2E24-AB309DC21A35}"/>
                </a:ext>
              </a:extLst>
            </p:cNvPr>
            <p:cNvSpPr txBox="1"/>
            <p:nvPr/>
          </p:nvSpPr>
          <p:spPr>
            <a:xfrm>
              <a:off x="0" y="-28575"/>
              <a:ext cx="2541055" cy="796349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flipV="1">
            <a:off x="522917" y="1271204"/>
            <a:ext cx="16090835" cy="54102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38959" y="501833"/>
            <a:ext cx="16230600" cy="618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sym typeface="Public Sans Bold"/>
              </a:rPr>
              <a:t>New Product: DormDash Care Bundles  </a:t>
            </a:r>
            <a:endParaRPr lang="en-US" sz="3700" dirty="0"/>
          </a:p>
        </p:txBody>
      </p:sp>
      <p:grpSp>
        <p:nvGrpSpPr>
          <p:cNvPr id="26" name="Group 26"/>
          <p:cNvGrpSpPr/>
          <p:nvPr/>
        </p:nvGrpSpPr>
        <p:grpSpPr>
          <a:xfrm>
            <a:off x="585891" y="2089750"/>
            <a:ext cx="4953000" cy="3372480"/>
            <a:chOff x="-16391" y="617688"/>
            <a:chExt cx="5031935" cy="3309479"/>
          </a:xfrm>
        </p:grpSpPr>
        <p:sp>
          <p:nvSpPr>
            <p:cNvPr id="28" name="TextBox 28"/>
            <p:cNvSpPr txBox="1"/>
            <p:nvPr/>
          </p:nvSpPr>
          <p:spPr>
            <a:xfrm>
              <a:off x="-16391" y="617688"/>
              <a:ext cx="5031935" cy="459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3200" b="1" dirty="0">
                  <a:solidFill>
                    <a:srgbClr val="2B2C30"/>
                  </a:solidFill>
                  <a:latin typeface="Playfair Display" pitchFamily="2" charset="77"/>
                  <a:ea typeface="Public Sans Bold"/>
                  <a:cs typeface="Public Sans Bold"/>
                  <a:sym typeface="Public Sans Bold"/>
                </a:rPr>
                <a:t>Product Overview 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1265303"/>
              <a:ext cx="5015544" cy="26618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Pre-built care packages available for on-demand purchases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Designed to meet common students needs (finals, sick days, self care)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Available for purchase by both students and parents 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78981" y="2089750"/>
            <a:ext cx="5289360" cy="2476222"/>
            <a:chOff x="290919" y="628965"/>
            <a:chExt cx="5373656" cy="2381996"/>
          </a:xfrm>
        </p:grpSpPr>
        <p:sp>
          <p:nvSpPr>
            <p:cNvPr id="32" name="TextBox 32"/>
            <p:cNvSpPr txBox="1"/>
            <p:nvPr/>
          </p:nvSpPr>
          <p:spPr>
            <a:xfrm>
              <a:off x="291576" y="628965"/>
              <a:ext cx="5031935" cy="4500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3200" b="1" dirty="0">
                  <a:solidFill>
                    <a:srgbClr val="2B2C30"/>
                  </a:solidFill>
                  <a:latin typeface="Playfair Display" pitchFamily="2" charset="77"/>
                  <a:ea typeface="Public Sans Bold"/>
                  <a:cs typeface="Public Sans Bold"/>
                  <a:sym typeface="Public Sans Bold"/>
                </a:rPr>
                <a:t>Key Benefits 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0919" y="1289097"/>
              <a:ext cx="5373656" cy="17218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Provides convenient, ready-to-use solutions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Utilizes existing delivery systems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Tailored to student needs</a:t>
              </a:r>
              <a:endParaRPr lang="en-US" sz="2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408623" y="2104056"/>
            <a:ext cx="5252680" cy="3289700"/>
            <a:chOff x="-130486" y="1005235"/>
            <a:chExt cx="5059908" cy="4140780"/>
          </a:xfrm>
        </p:grpSpPr>
        <p:sp>
          <p:nvSpPr>
            <p:cNvPr id="36" name="TextBox 36"/>
            <p:cNvSpPr txBox="1"/>
            <p:nvPr/>
          </p:nvSpPr>
          <p:spPr>
            <a:xfrm>
              <a:off x="-130486" y="1005235"/>
              <a:ext cx="5031935" cy="588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3200" b="1" dirty="0">
                  <a:solidFill>
                    <a:srgbClr val="2B2C30"/>
                  </a:solidFill>
                  <a:latin typeface="Playfair Display" pitchFamily="2" charset="77"/>
                  <a:ea typeface="Public Sans Bold"/>
                  <a:cs typeface="Public Sans Bold"/>
                  <a:sym typeface="Public Sans Bold"/>
                </a:rPr>
                <a:t>Strategic Value 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-102513" y="1731716"/>
              <a:ext cx="5031935" cy="34142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Increases average order value through bundled pricing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Expands target market to include parents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Supports scalable growth across campuses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Generates higher margins through bulk purchasing 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16136" y="6398468"/>
            <a:ext cx="11983745" cy="2639479"/>
            <a:chOff x="-115711" y="621834"/>
            <a:chExt cx="5252541" cy="3519309"/>
          </a:xfrm>
        </p:grpSpPr>
        <p:sp>
          <p:nvSpPr>
            <p:cNvPr id="40" name="TextBox 40"/>
            <p:cNvSpPr txBox="1"/>
            <p:nvPr/>
          </p:nvSpPr>
          <p:spPr>
            <a:xfrm>
              <a:off x="104895" y="621834"/>
              <a:ext cx="5031935" cy="623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r>
                <a:rPr lang="en-US" sz="3200" b="1" dirty="0">
                  <a:solidFill>
                    <a:srgbClr val="2B2C30"/>
                  </a:solidFill>
                  <a:latin typeface="Playfair Display" pitchFamily="2" charset="77"/>
                  <a:ea typeface="Public Sans Bold"/>
                  <a:cs typeface="Public Sans Bold"/>
                  <a:sym typeface="Public Sans Bold"/>
                </a:rPr>
                <a:t>Example Bundles 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-115711" y="1401587"/>
              <a:ext cx="2509106" cy="27395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Finals Packag</a:t>
              </a:r>
              <a:r>
                <a:rPr lang="en-US" sz="24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20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: energy drinks, snacks, flashcards 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Sick Day Kit</a:t>
              </a:r>
              <a:r>
                <a:rPr lang="en-US" sz="20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: medicine, soup, tissues 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Self Care Box</a:t>
              </a:r>
              <a:r>
                <a:rPr lang="en-US" sz="2000" dirty="0">
                  <a:solidFill>
                    <a:srgbClr val="2B2C30"/>
                  </a:solidFill>
                  <a:latin typeface="Playfair Display" pitchFamily="2" charset="77"/>
                  <a:ea typeface="Public Sans"/>
                  <a:cs typeface="Public Sans"/>
                  <a:sym typeface="Public Sans"/>
                </a:rPr>
                <a:t>: skincare, candles, snacks</a:t>
              </a:r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C3672-454A-4C18-B29B-6DF6C4F6751D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8753" y="6014222"/>
            <a:ext cx="4244142" cy="351452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3C0F609-EA86-A63B-EC88-C244140786C6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907" y="6014221"/>
            <a:ext cx="4023360" cy="351452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49F7738-3569-C994-424B-0351367B80FB}"/>
              </a:ext>
            </a:extLst>
          </p:cNvPr>
          <p:cNvSpPr txBox="1"/>
          <p:nvPr/>
        </p:nvSpPr>
        <p:spPr>
          <a:xfrm>
            <a:off x="8839200" y="9600501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layfair Display" pitchFamily="2" charset="77"/>
              </a:rPr>
              <a:t>Finals Package Example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AEF908-4C8B-421C-C833-C3BB6D7E024A}"/>
              </a:ext>
            </a:extLst>
          </p:cNvPr>
          <p:cNvSpPr txBox="1"/>
          <p:nvPr/>
        </p:nvSpPr>
        <p:spPr>
          <a:xfrm>
            <a:off x="14101128" y="9600501"/>
            <a:ext cx="252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layfair Display" pitchFamily="2" charset="77"/>
              </a:rPr>
              <a:t>Sick Day Kit Example </a:t>
            </a:r>
          </a:p>
        </p:txBody>
      </p:sp>
      <p:grpSp>
        <p:nvGrpSpPr>
          <p:cNvPr id="55" name="Group 18">
            <a:extLst>
              <a:ext uri="{FF2B5EF4-FFF2-40B4-BE49-F238E27FC236}">
                <a16:creationId xmlns:a16="http://schemas.microsoft.com/office/drawing/2014/main" id="{9643F4E5-14B8-B8B8-4D62-70B297F05D9F}"/>
              </a:ext>
            </a:extLst>
          </p:cNvPr>
          <p:cNvGrpSpPr/>
          <p:nvPr/>
        </p:nvGrpSpPr>
        <p:grpSpPr>
          <a:xfrm>
            <a:off x="267958" y="1723468"/>
            <a:ext cx="5869195" cy="3910556"/>
            <a:chOff x="0" y="-28575"/>
            <a:chExt cx="4058845" cy="796349"/>
          </a:xfrm>
        </p:grpSpPr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F91835BF-F4B6-A9F6-B03A-58ADBBF5B1C7}"/>
                </a:ext>
              </a:extLst>
            </p:cNvPr>
            <p:cNvSpPr/>
            <p:nvPr/>
          </p:nvSpPr>
          <p:spPr>
            <a:xfrm>
              <a:off x="0" y="0"/>
              <a:ext cx="4058845" cy="767774"/>
            </a:xfrm>
            <a:custGeom>
              <a:avLst/>
              <a:gdLst/>
              <a:ahLst/>
              <a:cxnLst/>
              <a:rect l="l" t="t" r="r" b="b"/>
              <a:pathLst>
                <a:path w="4058845" h="767774">
                  <a:moveTo>
                    <a:pt x="0" y="0"/>
                  </a:moveTo>
                  <a:lnTo>
                    <a:pt x="4058845" y="0"/>
                  </a:lnTo>
                  <a:lnTo>
                    <a:pt x="4058845" y="767774"/>
                  </a:lnTo>
                  <a:lnTo>
                    <a:pt x="0" y="767774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20">
              <a:extLst>
                <a:ext uri="{FF2B5EF4-FFF2-40B4-BE49-F238E27FC236}">
                  <a16:creationId xmlns:a16="http://schemas.microsoft.com/office/drawing/2014/main" id="{BEF767A7-0128-BDE1-54E9-E0B10253F432}"/>
                </a:ext>
              </a:extLst>
            </p:cNvPr>
            <p:cNvSpPr txBox="1"/>
            <p:nvPr/>
          </p:nvSpPr>
          <p:spPr>
            <a:xfrm>
              <a:off x="0" y="-28575"/>
              <a:ext cx="2541055" cy="796349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58" name="Group 18">
            <a:extLst>
              <a:ext uri="{FF2B5EF4-FFF2-40B4-BE49-F238E27FC236}">
                <a16:creationId xmlns:a16="http://schemas.microsoft.com/office/drawing/2014/main" id="{D33B5FEA-91FC-D3A3-901F-EA7B1262FE2E}"/>
              </a:ext>
            </a:extLst>
          </p:cNvPr>
          <p:cNvGrpSpPr/>
          <p:nvPr/>
        </p:nvGrpSpPr>
        <p:grpSpPr>
          <a:xfrm>
            <a:off x="6438699" y="1723468"/>
            <a:ext cx="5336969" cy="3910556"/>
            <a:chOff x="0" y="-28575"/>
            <a:chExt cx="4058845" cy="796349"/>
          </a:xfrm>
        </p:grpSpPr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B7C28BDE-669E-B80D-0A0D-6052F4F394BA}"/>
                </a:ext>
              </a:extLst>
            </p:cNvPr>
            <p:cNvSpPr/>
            <p:nvPr/>
          </p:nvSpPr>
          <p:spPr>
            <a:xfrm>
              <a:off x="0" y="0"/>
              <a:ext cx="4058845" cy="767774"/>
            </a:xfrm>
            <a:custGeom>
              <a:avLst/>
              <a:gdLst/>
              <a:ahLst/>
              <a:cxnLst/>
              <a:rect l="l" t="t" r="r" b="b"/>
              <a:pathLst>
                <a:path w="4058845" h="767774">
                  <a:moveTo>
                    <a:pt x="0" y="0"/>
                  </a:moveTo>
                  <a:lnTo>
                    <a:pt x="4058845" y="0"/>
                  </a:lnTo>
                  <a:lnTo>
                    <a:pt x="4058845" y="767774"/>
                  </a:lnTo>
                  <a:lnTo>
                    <a:pt x="0" y="767774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20">
              <a:extLst>
                <a:ext uri="{FF2B5EF4-FFF2-40B4-BE49-F238E27FC236}">
                  <a16:creationId xmlns:a16="http://schemas.microsoft.com/office/drawing/2014/main" id="{14BA6C92-6144-100F-9AA4-496B647D3E11}"/>
                </a:ext>
              </a:extLst>
            </p:cNvPr>
            <p:cNvSpPr txBox="1"/>
            <p:nvPr/>
          </p:nvSpPr>
          <p:spPr>
            <a:xfrm>
              <a:off x="0" y="-28575"/>
              <a:ext cx="2541055" cy="796349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61" name="Group 18">
            <a:extLst>
              <a:ext uri="{FF2B5EF4-FFF2-40B4-BE49-F238E27FC236}">
                <a16:creationId xmlns:a16="http://schemas.microsoft.com/office/drawing/2014/main" id="{E97C3F10-0F77-C162-065B-ADCA9CD592D3}"/>
              </a:ext>
            </a:extLst>
          </p:cNvPr>
          <p:cNvGrpSpPr/>
          <p:nvPr/>
        </p:nvGrpSpPr>
        <p:grpSpPr>
          <a:xfrm>
            <a:off x="12040268" y="1701703"/>
            <a:ext cx="5661842" cy="3910556"/>
            <a:chOff x="0" y="-28575"/>
            <a:chExt cx="4058845" cy="796349"/>
          </a:xfrm>
        </p:grpSpPr>
        <p:sp>
          <p:nvSpPr>
            <p:cNvPr id="62" name="Freeform 19">
              <a:extLst>
                <a:ext uri="{FF2B5EF4-FFF2-40B4-BE49-F238E27FC236}">
                  <a16:creationId xmlns:a16="http://schemas.microsoft.com/office/drawing/2014/main" id="{B9BF00DA-28FC-30CC-75A5-962CAC3ADF8C}"/>
                </a:ext>
              </a:extLst>
            </p:cNvPr>
            <p:cNvSpPr/>
            <p:nvPr/>
          </p:nvSpPr>
          <p:spPr>
            <a:xfrm>
              <a:off x="0" y="0"/>
              <a:ext cx="4058845" cy="767774"/>
            </a:xfrm>
            <a:custGeom>
              <a:avLst/>
              <a:gdLst/>
              <a:ahLst/>
              <a:cxnLst/>
              <a:rect l="l" t="t" r="r" b="b"/>
              <a:pathLst>
                <a:path w="4058845" h="767774">
                  <a:moveTo>
                    <a:pt x="0" y="0"/>
                  </a:moveTo>
                  <a:lnTo>
                    <a:pt x="4058845" y="0"/>
                  </a:lnTo>
                  <a:lnTo>
                    <a:pt x="4058845" y="767774"/>
                  </a:lnTo>
                  <a:lnTo>
                    <a:pt x="0" y="767774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20">
              <a:extLst>
                <a:ext uri="{FF2B5EF4-FFF2-40B4-BE49-F238E27FC236}">
                  <a16:creationId xmlns:a16="http://schemas.microsoft.com/office/drawing/2014/main" id="{DEEF7F89-1391-4C0F-CB79-FF3CC1F1A644}"/>
                </a:ext>
              </a:extLst>
            </p:cNvPr>
            <p:cNvSpPr txBox="1"/>
            <p:nvPr/>
          </p:nvSpPr>
          <p:spPr>
            <a:xfrm>
              <a:off x="0" y="-28575"/>
              <a:ext cx="2541055" cy="796349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991631" y="738929"/>
            <a:ext cx="16230600" cy="62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sym typeface="Public Sans Bold"/>
              </a:rPr>
              <a:t>National Expansion Decision &amp; Approach</a:t>
            </a:r>
            <a:endParaRPr lang="en-US" dirty="0"/>
          </a:p>
        </p:txBody>
      </p:sp>
      <p:sp>
        <p:nvSpPr>
          <p:cNvPr id="9" name="AutoShape 9"/>
          <p:cNvSpPr/>
          <p:nvPr/>
        </p:nvSpPr>
        <p:spPr>
          <a:xfrm flipV="1">
            <a:off x="1028695" y="1485174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028695" y="1639213"/>
            <a:ext cx="7774830" cy="7522604"/>
            <a:chOff x="0" y="-28575"/>
            <a:chExt cx="4058845" cy="79634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58845" cy="767774"/>
            </a:xfrm>
            <a:custGeom>
              <a:avLst/>
              <a:gdLst/>
              <a:ahLst/>
              <a:cxnLst/>
              <a:rect l="l" t="t" r="r" b="b"/>
              <a:pathLst>
                <a:path w="4058845" h="767774">
                  <a:moveTo>
                    <a:pt x="0" y="0"/>
                  </a:moveTo>
                  <a:lnTo>
                    <a:pt x="4058845" y="0"/>
                  </a:lnTo>
                  <a:lnTo>
                    <a:pt x="4058845" y="767774"/>
                  </a:lnTo>
                  <a:lnTo>
                    <a:pt x="0" y="767774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2541055" cy="796349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0A65839-D136-9924-6508-EC4B4D1A7BB4}"/>
              </a:ext>
            </a:extLst>
          </p:cNvPr>
          <p:cNvSpPr txBox="1"/>
          <p:nvPr/>
        </p:nvSpPr>
        <p:spPr>
          <a:xfrm>
            <a:off x="1283516" y="2126817"/>
            <a:ext cx="7263398" cy="8160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Playfair Display" pitchFamily="2" charset="77"/>
              </a:rPr>
              <a:t>Expansion Decision</a:t>
            </a:r>
            <a:r>
              <a:rPr lang="en-US" sz="2800" dirty="0">
                <a:latin typeface="Playfair Display" pitchFamily="2" charset="77"/>
              </a:rPr>
              <a:t>:   YES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</a:rPr>
              <a:t>Scalable business model that can be replicated across college campuses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</a:rPr>
              <a:t>Large addressable market with over 4,000 universities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</a:rPr>
              <a:t>Expanding early helps prevent competitors from entering the market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Playfair Display" pitchFamily="2" charset="77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Playfair Display" pitchFamily="2" charset="77"/>
              </a:rPr>
              <a:t>Rationale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</a:rPr>
              <a:t>Supports growth while managing operational risks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</a:rPr>
              <a:t>Maintains service quality and brand consistency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</a:rPr>
              <a:t>Captures first-mover advantage in growing market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Playfair Display" pitchFamily="2" charset="77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Playfair Display" pitchFamily="2" charset="7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Playfair Display" pitchFamily="2" charset="77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Playfair Display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FC0828-6A02-201E-E1F3-58457D83D7EF}"/>
              </a:ext>
            </a:extLst>
          </p:cNvPr>
          <p:cNvSpPr txBox="1"/>
          <p:nvPr/>
        </p:nvSpPr>
        <p:spPr>
          <a:xfrm>
            <a:off x="9828621" y="2060021"/>
            <a:ext cx="7175863" cy="7329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Playfair Display" pitchFamily="2" charset="77"/>
              </a:rPr>
              <a:t>Expansion Approach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Playfair Display" pitchFamily="2" charset="77"/>
              </a:rPr>
              <a:t>Raise Capital </a:t>
            </a:r>
            <a:r>
              <a:rPr lang="en-US" sz="2800" dirty="0">
                <a:latin typeface="Playfair Display" pitchFamily="2" charset="77"/>
                <a:sym typeface="Wingdings" pitchFamily="2" charset="2"/>
              </a:rPr>
              <a:t> Hybrid Expansion Model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Raise capital to support initial expansion phase 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Launch operations across 15-25 campuses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Transition to selective franchising 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Playfair Display" pitchFamily="2" charset="77"/>
              <a:sym typeface="Playfair Display Italics"/>
            </a:endParaRPr>
          </a:p>
          <a:p>
            <a:pPr>
              <a:lnSpc>
                <a:spcPct val="150000"/>
              </a:lnSpc>
            </a:pPr>
            <a:endParaRPr lang="en-US" sz="2800" b="1" spc="14" dirty="0">
              <a:solidFill>
                <a:srgbClr val="2B2C30"/>
              </a:solidFill>
              <a:latin typeface="Playfair Display" pitchFamily="2" charset="77"/>
              <a:ea typeface="Playfair Display Italics"/>
              <a:cs typeface="Playfair Display Italics"/>
              <a:sym typeface="Playfair Display Italics"/>
            </a:endParaRPr>
          </a:p>
          <a:p>
            <a:pPr>
              <a:lnSpc>
                <a:spcPct val="150000"/>
              </a:lnSpc>
            </a:pPr>
            <a:r>
              <a:rPr lang="en-US" sz="3200" b="1" spc="14" dirty="0">
                <a:solidFill>
                  <a:srgbClr val="2B2C30"/>
                </a:solidFill>
                <a:latin typeface="Playfair Display" pitchFamily="2" charset="77"/>
                <a:ea typeface="Playfair Display Italics"/>
                <a:cs typeface="Playfair Display Italics"/>
                <a:sym typeface="Playfair Display Italics"/>
              </a:rPr>
              <a:t>Why This Approach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Builds stronger operational systems before scaling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Establishes brand reputation and track record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"/>
                <a:cs typeface="Public Sans"/>
                <a:sym typeface="Public Sans"/>
              </a:rPr>
              <a:t>Retains revenue in high-potential markets </a:t>
            </a:r>
          </a:p>
          <a:p>
            <a:pPr>
              <a:lnSpc>
                <a:spcPct val="150000"/>
              </a:lnSpc>
            </a:pPr>
            <a:endParaRPr lang="en-US" sz="2800" b="1" spc="14" dirty="0">
              <a:solidFill>
                <a:srgbClr val="2B2C30"/>
              </a:solidFill>
              <a:latin typeface="Playfair Display" pitchFamily="2" charset="77"/>
              <a:ea typeface="Playfair Display Italics"/>
              <a:cs typeface="Playfair Display Italics"/>
              <a:sym typeface="Playfair Display Italics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Playfair Display" pitchFamily="2" charset="77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A6EFAC3-045A-E1FC-6C71-1C720B042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7920" y="8249653"/>
            <a:ext cx="3689010" cy="3170075"/>
          </a:xfrm>
          <a:prstGeom prst="rect">
            <a:avLst/>
          </a:prstGeom>
        </p:spPr>
      </p:pic>
      <p:grpSp>
        <p:nvGrpSpPr>
          <p:cNvPr id="41" name="Group 18">
            <a:extLst>
              <a:ext uri="{FF2B5EF4-FFF2-40B4-BE49-F238E27FC236}">
                <a16:creationId xmlns:a16="http://schemas.microsoft.com/office/drawing/2014/main" id="{B0523957-F9DE-29A8-324D-E4C204D29113}"/>
              </a:ext>
            </a:extLst>
          </p:cNvPr>
          <p:cNvGrpSpPr/>
          <p:nvPr/>
        </p:nvGrpSpPr>
        <p:grpSpPr>
          <a:xfrm>
            <a:off x="9647177" y="1647964"/>
            <a:ext cx="7774830" cy="7513854"/>
            <a:chOff x="0" y="-28575"/>
            <a:chExt cx="4058845" cy="796349"/>
          </a:xfrm>
        </p:grpSpPr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9C4BE908-D9B9-AC3F-E3B2-DAA677087D93}"/>
                </a:ext>
              </a:extLst>
            </p:cNvPr>
            <p:cNvSpPr/>
            <p:nvPr/>
          </p:nvSpPr>
          <p:spPr>
            <a:xfrm>
              <a:off x="0" y="0"/>
              <a:ext cx="4058845" cy="767774"/>
            </a:xfrm>
            <a:custGeom>
              <a:avLst/>
              <a:gdLst/>
              <a:ahLst/>
              <a:cxnLst/>
              <a:rect l="l" t="t" r="r" b="b"/>
              <a:pathLst>
                <a:path w="4058845" h="767774">
                  <a:moveTo>
                    <a:pt x="0" y="0"/>
                  </a:moveTo>
                  <a:lnTo>
                    <a:pt x="4058845" y="0"/>
                  </a:lnTo>
                  <a:lnTo>
                    <a:pt x="4058845" y="767774"/>
                  </a:lnTo>
                  <a:lnTo>
                    <a:pt x="0" y="767774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20">
              <a:extLst>
                <a:ext uri="{FF2B5EF4-FFF2-40B4-BE49-F238E27FC236}">
                  <a16:creationId xmlns:a16="http://schemas.microsoft.com/office/drawing/2014/main" id="{B46C48F4-1436-4151-989F-660B3CFD33CC}"/>
                </a:ext>
              </a:extLst>
            </p:cNvPr>
            <p:cNvSpPr txBox="1"/>
            <p:nvPr/>
          </p:nvSpPr>
          <p:spPr>
            <a:xfrm>
              <a:off x="0" y="-28575"/>
              <a:ext cx="2541055" cy="796349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06870" y="715813"/>
            <a:ext cx="16230600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sym typeface="Public Sans Bold"/>
              </a:rPr>
              <a:t>Global Expansion: Country Selection &amp; Rationale</a:t>
            </a:r>
            <a:endParaRPr lang="en-US" sz="3700" b="1" spc="843" dirty="0">
              <a:solidFill>
                <a:srgbClr val="2B2C30"/>
              </a:solidFill>
              <a:latin typeface="Public Sans Bold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76390" y="1570849"/>
            <a:ext cx="16749134" cy="7188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06870" y="2316903"/>
            <a:ext cx="7926948" cy="7704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200" b="1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Country Selection</a:t>
            </a:r>
            <a:r>
              <a:rPr lang="en-US" sz="2799" b="1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:   </a:t>
            </a:r>
            <a:r>
              <a:rPr lang="en-US" sz="2799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CANADA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Geographic proximity to the U.S.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Stable legal and regulatory environment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Similar student demographics and campus culture</a:t>
            </a:r>
          </a:p>
          <a:p>
            <a:pPr marL="914400" lvl="1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B2C30"/>
              </a:solidFill>
              <a:latin typeface="Playfair Display" pitchFamily="2" charset="77"/>
              <a:ea typeface="Public Sans Bold"/>
              <a:cs typeface="Public Sans Bold"/>
              <a:sym typeface="Public Sans Bold"/>
            </a:endParaRPr>
          </a:p>
          <a:p>
            <a:pPr>
              <a:lnSpc>
                <a:spcPts val="3919"/>
              </a:lnSpc>
            </a:pPr>
            <a:r>
              <a:rPr lang="en-US" sz="3200" b="1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Opportunities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High concentration of universities and student population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Cultural similarities allows for faster market adoption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Efficient logistics and supply chain coordination  </a:t>
            </a:r>
          </a:p>
          <a:p>
            <a:pPr lvl="1">
              <a:lnSpc>
                <a:spcPts val="3919"/>
              </a:lnSpc>
            </a:pPr>
            <a:endParaRPr lang="en-US" sz="2000" dirty="0">
              <a:solidFill>
                <a:srgbClr val="2B2C30"/>
              </a:solidFill>
              <a:latin typeface="Playfair Display" pitchFamily="2" charset="77"/>
              <a:ea typeface="Public Sans Bold"/>
              <a:cs typeface="Public Sans Bold"/>
              <a:sym typeface="Public Sans Bold"/>
            </a:endParaRPr>
          </a:p>
          <a:p>
            <a:pPr>
              <a:lnSpc>
                <a:spcPts val="3919"/>
              </a:lnSpc>
            </a:pPr>
            <a:r>
              <a:rPr lang="en-US" sz="3200" b="1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Limitations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Harsh winter climates, may impact delivery operations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Competitive food delivery market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Bilingual requirements in certain regions of Canada (Quebec)</a:t>
            </a:r>
          </a:p>
          <a:p>
            <a:pPr marL="914400" lvl="1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B2C30"/>
              </a:solidFill>
              <a:latin typeface="Playfair Display" pitchFamily="2" charset="77"/>
              <a:ea typeface="Public Sans Bold"/>
              <a:cs typeface="Public Sans Bold"/>
              <a:sym typeface="Public Sans Bold"/>
            </a:endParaRPr>
          </a:p>
          <a:p>
            <a:pPr>
              <a:lnSpc>
                <a:spcPts val="3919"/>
              </a:lnSpc>
            </a:pPr>
            <a:r>
              <a:rPr lang="en-US" sz="2000" dirty="0">
                <a:solidFill>
                  <a:srgbClr val="2B2C30"/>
                </a:solidFill>
                <a:latin typeface="Playfair Display" pitchFamily="2" charset="77"/>
                <a:ea typeface="Public Sans Bold"/>
                <a:cs typeface="Public Sans Bold"/>
                <a:sym typeface="Public Sans Bold"/>
              </a:rPr>
              <a:t>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830580" y="3130203"/>
            <a:ext cx="7773804" cy="4026594"/>
            <a:chOff x="0" y="-28575"/>
            <a:chExt cx="2364475" cy="15687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64475" cy="1540190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364475" cy="1198723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89FD1E9-082F-DD4D-E67E-2EC2B429B961}"/>
              </a:ext>
            </a:extLst>
          </p:cNvPr>
          <p:cNvSpPr txBox="1"/>
          <p:nvPr/>
        </p:nvSpPr>
        <p:spPr>
          <a:xfrm>
            <a:off x="10202418" y="3728894"/>
            <a:ext cx="6301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Playfair Display" pitchFamily="2" charset="77"/>
              </a:rPr>
              <a:t>Overall Rationale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1D3B03-F5BB-DA91-5C9D-5D86DCF6DF63}"/>
              </a:ext>
            </a:extLst>
          </p:cNvPr>
          <p:cNvSpPr txBox="1"/>
          <p:nvPr/>
        </p:nvSpPr>
        <p:spPr>
          <a:xfrm>
            <a:off x="9830580" y="4287506"/>
            <a:ext cx="7513595" cy="1881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</a:rPr>
              <a:t>Predictable and scalable expansion environment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</a:rPr>
              <a:t>Strong alignment with DormDash’s business model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</a:rPr>
              <a:t>Low political, cultural, and economic risk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</a:rPr>
              <a:t>Provides an ideal first step into international expansion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2C36AF-67BB-62EF-4891-F44D4D15F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3393" y="7712776"/>
            <a:ext cx="4934607" cy="3293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228600" y="609040"/>
            <a:ext cx="16230594" cy="621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sym typeface="Public Sans Bold"/>
              </a:rPr>
              <a:t> Global Expansion: Strategy &amp; Entry Mode</a:t>
            </a:r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 flipV="1">
            <a:off x="365200" y="140332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3FFC5D-3481-A4F3-A7F2-5C7C17505E13}"/>
              </a:ext>
            </a:extLst>
          </p:cNvPr>
          <p:cNvSpPr txBox="1"/>
          <p:nvPr/>
        </p:nvSpPr>
        <p:spPr>
          <a:xfrm>
            <a:off x="494704" y="2175559"/>
            <a:ext cx="7261411" cy="48977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latin typeface="Playfair Display" pitchFamily="2" charset="77"/>
                <a:ea typeface="Calibri"/>
                <a:cs typeface="Calibri"/>
              </a:rPr>
              <a:t>Expansion Strategy</a:t>
            </a:r>
            <a:r>
              <a:rPr lang="en-US" sz="2800" dirty="0">
                <a:latin typeface="Playfair Display" pitchFamily="2" charset="77"/>
                <a:ea typeface="Calibri"/>
                <a:cs typeface="Calibri"/>
              </a:rPr>
              <a:t>:  Combination Strategy</a:t>
            </a:r>
          </a:p>
          <a:p>
            <a:endParaRPr lang="en-US" sz="2800" dirty="0">
              <a:latin typeface="Playfair Display" pitchFamily="2" charset="77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Playfair Display" pitchFamily="2" charset="77"/>
                <a:ea typeface="Calibri"/>
                <a:cs typeface="Calibri"/>
              </a:rPr>
              <a:t>Rationale</a:t>
            </a:r>
            <a:r>
              <a:rPr lang="en-US" sz="3200" dirty="0">
                <a:latin typeface="Playfair Display" pitchFamily="2" charset="77"/>
                <a:ea typeface="Calibri"/>
                <a:cs typeface="Calibri"/>
              </a:rPr>
              <a:t> 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  <a:ea typeface="Calibri"/>
                <a:cs typeface="Calibri"/>
              </a:rPr>
              <a:t>Maintains consistent brand identity and service models across markets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  <a:ea typeface="Calibri"/>
                <a:cs typeface="Calibri"/>
              </a:rPr>
              <a:t>Adapts to local preferences, campus environments, and regulations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  <a:ea typeface="Calibri"/>
                <a:cs typeface="Calibri"/>
              </a:rPr>
              <a:t>Provides flexibility to meet different student needs in each country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2F9D4-AC67-10D0-DB9F-3121AD24BE50}"/>
              </a:ext>
            </a:extLst>
          </p:cNvPr>
          <p:cNvSpPr txBox="1"/>
          <p:nvPr/>
        </p:nvSpPr>
        <p:spPr>
          <a:xfrm>
            <a:off x="9217849" y="1965004"/>
            <a:ext cx="8575447" cy="6929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Entry Strategy</a:t>
            </a:r>
            <a:r>
              <a:rPr lang="en-US" sz="28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:  Joint Venture</a:t>
            </a:r>
          </a:p>
          <a:p>
            <a:endParaRPr lang="en-US" sz="2800" dirty="0">
              <a:latin typeface="Playfair Display" pitchFamily="2" charset="77"/>
              <a:ea typeface="Calibri"/>
              <a:cs typeface="Arial"/>
            </a:endParaRPr>
          </a:p>
          <a:p>
            <a:r>
              <a:rPr lang="en-US" sz="3200" b="1" dirty="0">
                <a:latin typeface="Playfair Display" pitchFamily="2" charset="77"/>
                <a:ea typeface="Calibri"/>
                <a:cs typeface="Arial"/>
              </a:rPr>
              <a:t> Approach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  <a:ea typeface="Calibri"/>
                <a:cs typeface="Arial"/>
              </a:rPr>
              <a:t>Partner with local Canadian businesses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  <a:ea typeface="Calibri"/>
                <a:cs typeface="Arial"/>
              </a:rPr>
              <a:t>Leverage local expertise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  <a:ea typeface="Calibri"/>
                <a:cs typeface="Arial"/>
              </a:rPr>
              <a:t>Maintain standardized core operations while allowing strategic local customization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  <a:ea typeface="Calibri"/>
                <a:cs typeface="Arial"/>
              </a:rPr>
              <a:t>Captures advantages of both strategies while minimizing disadvantages</a:t>
            </a:r>
          </a:p>
          <a:p>
            <a:br>
              <a:rPr lang="en-US" sz="2800" b="1" dirty="0">
                <a:latin typeface="Playfair Display" pitchFamily="2" charset="77"/>
                <a:ea typeface="Calibri"/>
                <a:cs typeface="Arial"/>
              </a:rPr>
            </a:br>
            <a:r>
              <a:rPr lang="en-US" sz="2800" b="1" dirty="0">
                <a:latin typeface="Playfair Display" pitchFamily="2" charset="77"/>
                <a:ea typeface="Calibri"/>
                <a:cs typeface="Arial"/>
              </a:rPr>
              <a:t> </a:t>
            </a:r>
            <a:r>
              <a:rPr lang="en-US" sz="3200" b="1" dirty="0">
                <a:latin typeface="Playfair Display" pitchFamily="2" charset="77"/>
                <a:ea typeface="Calibri"/>
                <a:cs typeface="Arial"/>
              </a:rPr>
              <a:t>Rationale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  <a:ea typeface="Calibri"/>
                <a:cs typeface="Arial"/>
              </a:rPr>
              <a:t>Ensures consistent service quality across markets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  <a:ea typeface="Calibri"/>
                <a:cs typeface="Arial"/>
              </a:rPr>
              <a:t>Local partners provide cultural insight and market credibility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fair Display" pitchFamily="2" charset="77"/>
                <a:ea typeface="Calibri"/>
                <a:cs typeface="Arial"/>
              </a:rPr>
              <a:t>Reduces market entry risks by sharing resources with local partners  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9BAD86F4-794F-1661-CC76-7C3EE7F6EE16}"/>
              </a:ext>
            </a:extLst>
          </p:cNvPr>
          <p:cNvGrpSpPr/>
          <p:nvPr/>
        </p:nvGrpSpPr>
        <p:grpSpPr>
          <a:xfrm>
            <a:off x="9217849" y="1620803"/>
            <a:ext cx="8397800" cy="7446590"/>
            <a:chOff x="0" y="-28575"/>
            <a:chExt cx="2364475" cy="1247884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6C2AFF4A-3B96-F2D4-E4AD-513D25501B33}"/>
                </a:ext>
              </a:extLst>
            </p:cNvPr>
            <p:cNvSpPr/>
            <p:nvPr/>
          </p:nvSpPr>
          <p:spPr>
            <a:xfrm>
              <a:off x="0" y="0"/>
              <a:ext cx="2364475" cy="1219309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11">
              <a:extLst>
                <a:ext uri="{FF2B5EF4-FFF2-40B4-BE49-F238E27FC236}">
                  <a16:creationId xmlns:a16="http://schemas.microsoft.com/office/drawing/2014/main" id="{861832DC-FC64-0405-2F16-386B4F82EDFD}"/>
                </a:ext>
              </a:extLst>
            </p:cNvPr>
            <p:cNvSpPr txBox="1"/>
            <p:nvPr/>
          </p:nvSpPr>
          <p:spPr>
            <a:xfrm>
              <a:off x="0" y="-28575"/>
              <a:ext cx="2364475" cy="1062956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DE9EE098-AD0E-556D-9B13-11D5F420B90E}"/>
              </a:ext>
            </a:extLst>
          </p:cNvPr>
          <p:cNvGrpSpPr/>
          <p:nvPr/>
        </p:nvGrpSpPr>
        <p:grpSpPr>
          <a:xfrm>
            <a:off x="365200" y="1620802"/>
            <a:ext cx="8397800" cy="7446591"/>
            <a:chOff x="0" y="-28575"/>
            <a:chExt cx="2364475" cy="1247884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7BD8B51A-1125-6246-A5B4-48F175EE4ADA}"/>
                </a:ext>
              </a:extLst>
            </p:cNvPr>
            <p:cNvSpPr/>
            <p:nvPr/>
          </p:nvSpPr>
          <p:spPr>
            <a:xfrm>
              <a:off x="0" y="0"/>
              <a:ext cx="2364475" cy="1219309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8C962477-192E-B57D-6B16-74E3530C6E50}"/>
                </a:ext>
              </a:extLst>
            </p:cNvPr>
            <p:cNvSpPr txBox="1"/>
            <p:nvPr/>
          </p:nvSpPr>
          <p:spPr>
            <a:xfrm>
              <a:off x="0" y="-28575"/>
              <a:ext cx="2364475" cy="1198723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C3C2FB7-9523-8505-FDC2-9C47D3F31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00" y="8308059"/>
            <a:ext cx="4636168" cy="30161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365200" y="1302687"/>
            <a:ext cx="17237000" cy="16376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65200" y="571550"/>
            <a:ext cx="16230600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sym typeface="Public Sans Bold"/>
              </a:rPr>
              <a:t>Key Job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C4CB49-FCE7-8598-83AE-3219B764AC78}"/>
              </a:ext>
            </a:extLst>
          </p:cNvPr>
          <p:cNvSpPr txBox="1"/>
          <p:nvPr/>
        </p:nvSpPr>
        <p:spPr>
          <a:xfrm>
            <a:off x="1006871" y="2171991"/>
            <a:ext cx="9144000" cy="64940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Job</a:t>
            </a:r>
            <a:r>
              <a:rPr lang="en-US" sz="32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Selected</a:t>
            </a:r>
            <a:r>
              <a:rPr lang="en-US" sz="28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: Delivery Driver</a:t>
            </a:r>
          </a:p>
          <a:p>
            <a:endParaRPr lang="en-US" sz="2800" dirty="0">
              <a:solidFill>
                <a:srgbClr val="000000"/>
              </a:solidFill>
              <a:latin typeface="Playfair Display" pitchFamily="2" charset="77"/>
              <a:cs typeface="Arial"/>
            </a:endParaRPr>
          </a:p>
          <a:p>
            <a:r>
              <a:rPr lang="en-US" sz="3200" b="1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Key Responsibilities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Pick up and deliver orders quickly and safely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Ensure accurate delivery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Maintain professional service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Communicate order status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Follow local laws and traffic regulations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Playfair Display" pitchFamily="2" charset="77"/>
              <a:cs typeface="Arial"/>
            </a:endParaRPr>
          </a:p>
          <a:p>
            <a:r>
              <a:rPr lang="en-US" sz="3200" b="1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Qualifications: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Must be 18+ years 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ability to walk, bike, or drive for entire shift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Reliable smartphone with data plan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Valid driver’s license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Valid insurance and registration for vehicle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Ability to work evenings and weekends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678A40-E1C6-ECB5-BEF0-8280138F458E}"/>
              </a:ext>
            </a:extLst>
          </p:cNvPr>
          <p:cNvSpPr txBox="1"/>
          <p:nvPr/>
        </p:nvSpPr>
        <p:spPr>
          <a:xfrm>
            <a:off x="9448800" y="2171991"/>
            <a:ext cx="8153400" cy="72943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Playfair Display" pitchFamily="2" charset="77"/>
                <a:cs typeface="Arial"/>
              </a:rPr>
              <a:t>Compensation Plan</a:t>
            </a:r>
            <a:endParaRPr lang="en-US" sz="3200" b="1" dirty="0">
              <a:solidFill>
                <a:srgbClr val="000000"/>
              </a:solidFill>
              <a:latin typeface="Playfair Display" pitchFamily="2" charset="77"/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  <a:ea typeface="Calibri"/>
                <a:cs typeface="Arial"/>
              </a:rPr>
              <a:t>$15 - $18 per hour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  <a:ea typeface="Calibri"/>
                <a:cs typeface="Arial"/>
              </a:rPr>
              <a:t>Tips from customers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  <a:ea typeface="Calibri"/>
                <a:cs typeface="Arial"/>
              </a:rPr>
              <a:t>Performance-based bonuses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ea typeface="Calibri"/>
              <a:cs typeface="Arial"/>
            </a:endParaRPr>
          </a:p>
          <a:p>
            <a:r>
              <a:rPr lang="en-US" sz="3200" b="1" dirty="0">
                <a:latin typeface="Playfair Display" pitchFamily="2" charset="77"/>
                <a:ea typeface="Calibri"/>
                <a:cs typeface="Arial"/>
              </a:rPr>
              <a:t>Advertising Plan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  <a:ea typeface="Calibri"/>
                <a:cs typeface="Arial"/>
              </a:rPr>
              <a:t>Target college students/ young adults/parents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  <a:ea typeface="Calibri"/>
                <a:cs typeface="Arial"/>
              </a:rPr>
              <a:t>Post available jobs on Handshake, LinkedIn, job boards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  <a:ea typeface="Calibri"/>
                <a:cs typeface="Arial"/>
              </a:rPr>
              <a:t>Utilize DormDash social media platforms (Instagram, TikTok)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Playfair Display" pitchFamily="2" charset="77"/>
              <a:ea typeface="Calibri"/>
              <a:cs typeface="Arial"/>
            </a:endParaRPr>
          </a:p>
          <a:p>
            <a:r>
              <a:rPr lang="en-US" sz="3200" b="1" dirty="0">
                <a:latin typeface="Playfair Display" pitchFamily="2" charset="77"/>
                <a:ea typeface="Calibri"/>
                <a:cs typeface="Arial"/>
              </a:rPr>
              <a:t>Selection Criteria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  <a:ea typeface="Calibri"/>
                <a:cs typeface="Arial"/>
              </a:rPr>
              <a:t>Reliable transportation and communication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  <a:ea typeface="Calibri"/>
                <a:cs typeface="Arial"/>
              </a:rPr>
              <a:t>Availability during peak hours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  <a:ea typeface="Calibri"/>
                <a:cs typeface="Arial"/>
              </a:rPr>
              <a:t>Strong time management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  <a:ea typeface="Calibri"/>
                <a:cs typeface="Arial"/>
              </a:rPr>
              <a:t>Clean driving record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ea typeface="Calibri"/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ea typeface="Calibri"/>
              <a:cs typeface="Arial"/>
            </a:endParaRPr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BBD9265B-2739-7CD4-72C8-C24676DEC8A5}"/>
              </a:ext>
            </a:extLst>
          </p:cNvPr>
          <p:cNvGrpSpPr/>
          <p:nvPr/>
        </p:nvGrpSpPr>
        <p:grpSpPr>
          <a:xfrm>
            <a:off x="365200" y="1620802"/>
            <a:ext cx="8397800" cy="7446591"/>
            <a:chOff x="0" y="-28575"/>
            <a:chExt cx="2364475" cy="1247884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9F6A44CA-F124-5C01-88C4-CDA189C827F8}"/>
                </a:ext>
              </a:extLst>
            </p:cNvPr>
            <p:cNvSpPr/>
            <p:nvPr/>
          </p:nvSpPr>
          <p:spPr>
            <a:xfrm>
              <a:off x="0" y="0"/>
              <a:ext cx="2364475" cy="1219309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CB16F467-3368-3296-4A8A-7027781960ED}"/>
                </a:ext>
              </a:extLst>
            </p:cNvPr>
            <p:cNvSpPr txBox="1"/>
            <p:nvPr/>
          </p:nvSpPr>
          <p:spPr>
            <a:xfrm>
              <a:off x="0" y="-28575"/>
              <a:ext cx="2364475" cy="1198723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CF3705C-4BD0-5DF3-6810-FEEF1A69F1A8}"/>
              </a:ext>
            </a:extLst>
          </p:cNvPr>
          <p:cNvGrpSpPr/>
          <p:nvPr/>
        </p:nvGrpSpPr>
        <p:grpSpPr>
          <a:xfrm>
            <a:off x="9144000" y="1646002"/>
            <a:ext cx="8397800" cy="7446591"/>
            <a:chOff x="0" y="-28575"/>
            <a:chExt cx="2364475" cy="1247884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062E08F-13CD-7CB4-F05F-6E1AE07C4B87}"/>
                </a:ext>
              </a:extLst>
            </p:cNvPr>
            <p:cNvSpPr/>
            <p:nvPr/>
          </p:nvSpPr>
          <p:spPr>
            <a:xfrm>
              <a:off x="0" y="0"/>
              <a:ext cx="2364475" cy="1219309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C2D62E4-FEA3-FB45-2D85-E12813AAC7AF}"/>
                </a:ext>
              </a:extLst>
            </p:cNvPr>
            <p:cNvSpPr txBox="1"/>
            <p:nvPr/>
          </p:nvSpPr>
          <p:spPr>
            <a:xfrm>
              <a:off x="0" y="-28575"/>
              <a:ext cx="2364475" cy="1198723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4E8C55E-5D95-38A8-9065-DDB64F694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00" y="8308059"/>
            <a:ext cx="4636168" cy="30161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E375AF92-692A-615F-4964-24E913BDB6F5}"/>
              </a:ext>
            </a:extLst>
          </p:cNvPr>
          <p:cNvSpPr/>
          <p:nvPr/>
        </p:nvSpPr>
        <p:spPr>
          <a:xfrm flipV="1">
            <a:off x="591878" y="1633765"/>
            <a:ext cx="17144999" cy="99196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3BF9592-26D8-2001-F131-70961DD546E5}"/>
              </a:ext>
            </a:extLst>
          </p:cNvPr>
          <p:cNvSpPr txBox="1"/>
          <p:nvPr/>
        </p:nvSpPr>
        <p:spPr>
          <a:xfrm>
            <a:off x="600739" y="856289"/>
            <a:ext cx="16230600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sym typeface="Public Sans Bold"/>
              </a:rPr>
              <a:t>Employee Motivation Initiatives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DF6FD8-FD16-3E79-60CD-4C54804074DB}"/>
              </a:ext>
            </a:extLst>
          </p:cNvPr>
          <p:cNvSpPr txBox="1"/>
          <p:nvPr/>
        </p:nvSpPr>
        <p:spPr>
          <a:xfrm>
            <a:off x="899780" y="3513783"/>
            <a:ext cx="8206563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Playfair Display" pitchFamily="2" charset="77"/>
              </a:rPr>
              <a:t>Flexible Scheduling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layfair Display" pitchFamily="2" charset="77"/>
              </a:rPr>
              <a:t>Implement flexible scheduling to support student work-life balance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Playfair Display" pitchFamily="2" charset="77"/>
              <a:ea typeface="Calibri"/>
              <a:cs typeface="Calibri"/>
            </a:endParaRPr>
          </a:p>
          <a:p>
            <a:r>
              <a:rPr lang="en-US" sz="3200" b="1" dirty="0">
                <a:solidFill>
                  <a:srgbClr val="000000"/>
                </a:solidFill>
                <a:latin typeface="Playfair Display" pitchFamily="2" charset="77"/>
                <a:cs typeface="Segoe UI"/>
              </a:rPr>
              <a:t>Performance-Based Incentives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Playfair Display" pitchFamily="2" charset="77"/>
                <a:cs typeface="Segoe UI"/>
              </a:rPr>
              <a:t>Provide bonuses for high customer ratings and performance</a:t>
            </a:r>
          </a:p>
          <a:p>
            <a:endParaRPr lang="en-US" sz="2800" dirty="0">
              <a:ea typeface="Calibri"/>
              <a:cs typeface="Calibri"/>
            </a:endParaRPr>
          </a:p>
          <a:p>
            <a:endParaRPr lang="en-US" sz="2800" dirty="0"/>
          </a:p>
          <a:p>
            <a:endParaRPr lang="en-US" sz="2800" dirty="0"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C377D7-234D-022F-FD02-861A28A50FA0}"/>
              </a:ext>
            </a:extLst>
          </p:cNvPr>
          <p:cNvSpPr txBox="1"/>
          <p:nvPr/>
        </p:nvSpPr>
        <p:spPr>
          <a:xfrm>
            <a:off x="9414244" y="3513783"/>
            <a:ext cx="803112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Playfair Display" pitchFamily="2" charset="77"/>
                <a:ea typeface="Calibri"/>
                <a:cs typeface="Calibri"/>
              </a:rPr>
              <a:t>Career Advancement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layfair Display" pitchFamily="2" charset="77"/>
                <a:ea typeface="Calibri"/>
                <a:cs typeface="Calibri"/>
              </a:rPr>
              <a:t>Create a clear path for internal promotions and leadership roles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latin typeface="Playfair Display" pitchFamily="2" charset="77"/>
              <a:ea typeface="Calibri"/>
              <a:cs typeface="Calibri"/>
            </a:endParaRPr>
          </a:p>
          <a:p>
            <a:r>
              <a:rPr lang="en-US" sz="3200" b="1" dirty="0">
                <a:latin typeface="Playfair Display" pitchFamily="2" charset="77"/>
                <a:ea typeface="Calibri"/>
                <a:cs typeface="Calibri"/>
              </a:rPr>
              <a:t>Open Feedback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layfair Display" pitchFamily="2" charset="77"/>
                <a:ea typeface="Calibri"/>
                <a:cs typeface="Calibri"/>
              </a:rPr>
              <a:t>Conduct regular surveys and team meetings to gather feedback from employees and improve operations</a:t>
            </a:r>
          </a:p>
          <a:p>
            <a:endParaRPr lang="en-US" dirty="0"/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7C73578D-A186-222D-9942-5380BF2CD98C}"/>
              </a:ext>
            </a:extLst>
          </p:cNvPr>
          <p:cNvGrpSpPr/>
          <p:nvPr/>
        </p:nvGrpSpPr>
        <p:grpSpPr>
          <a:xfrm>
            <a:off x="591879" y="2781408"/>
            <a:ext cx="17145000" cy="5139013"/>
            <a:chOff x="0" y="-28575"/>
            <a:chExt cx="2364475" cy="1247884"/>
          </a:xfrm>
        </p:grpSpPr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4D95D852-C238-01B3-EA2B-39B5B4B59110}"/>
                </a:ext>
              </a:extLst>
            </p:cNvPr>
            <p:cNvSpPr/>
            <p:nvPr/>
          </p:nvSpPr>
          <p:spPr>
            <a:xfrm>
              <a:off x="0" y="0"/>
              <a:ext cx="2364475" cy="1219309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13BF50FD-1837-3F55-5C45-EE36E397E03D}"/>
                </a:ext>
              </a:extLst>
            </p:cNvPr>
            <p:cNvSpPr txBox="1"/>
            <p:nvPr/>
          </p:nvSpPr>
          <p:spPr>
            <a:xfrm>
              <a:off x="0" y="-28575"/>
              <a:ext cx="2364475" cy="1198723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D1B0E6F-D374-7146-ED04-58F335A0C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1832" y="8075995"/>
            <a:ext cx="4636168" cy="30161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>
            <a:extLst>
              <a:ext uri="{FF2B5EF4-FFF2-40B4-BE49-F238E27FC236}">
                <a16:creationId xmlns:a16="http://schemas.microsoft.com/office/drawing/2014/main" id="{442120FB-02DB-5E07-5D55-37479627B463}"/>
              </a:ext>
            </a:extLst>
          </p:cNvPr>
          <p:cNvSpPr/>
          <p:nvPr/>
        </p:nvSpPr>
        <p:spPr>
          <a:xfrm>
            <a:off x="571498" y="1644105"/>
            <a:ext cx="17144994" cy="2807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F60C9D0C-CBBA-A314-6132-9F0190F74F74}"/>
              </a:ext>
            </a:extLst>
          </p:cNvPr>
          <p:cNvSpPr txBox="1"/>
          <p:nvPr/>
        </p:nvSpPr>
        <p:spPr>
          <a:xfrm>
            <a:off x="571492" y="860212"/>
            <a:ext cx="16230600" cy="62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sym typeface="Public Sans Bold"/>
              </a:rPr>
              <a:t>Annoucement for Employee Departure: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360FB8-C46C-2B44-CA22-8375E88BA4D1}"/>
              </a:ext>
            </a:extLst>
          </p:cNvPr>
          <p:cNvSpPr txBox="1"/>
          <p:nvPr/>
        </p:nvSpPr>
        <p:spPr>
          <a:xfrm>
            <a:off x="838200" y="2287388"/>
            <a:ext cx="16208776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ayfair Display" pitchFamily="2" charset="77"/>
                <a:cs typeface="Phosphate Inline" panose="02000506050000020004" pitchFamily="2" charset="77"/>
              </a:rPr>
              <a:t>Two team members have recently resigned, effective immediately. We appreciate their contributions and wish them the best in their next endeavors. </a:t>
            </a:r>
          </a:p>
          <a:p>
            <a:endParaRPr lang="en-US" sz="2800" dirty="0">
              <a:latin typeface="Playfair Display" pitchFamily="2" charset="77"/>
              <a:cs typeface="Phosphate Inline" panose="02000506050000020004" pitchFamily="2" charset="77"/>
            </a:endParaRPr>
          </a:p>
          <a:p>
            <a:r>
              <a:rPr lang="en-US" sz="2800" dirty="0">
                <a:latin typeface="Playfair Display" pitchFamily="2" charset="77"/>
                <a:cs typeface="Phosphate Inline" panose="02000506050000020004" pitchFamily="2" charset="77"/>
              </a:rPr>
              <a:t>To better support our team going forward, DormDash will implement: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layfair Display" pitchFamily="2" charset="77"/>
                <a:cs typeface="Phosphate Inline" panose="02000506050000020004" pitchFamily="2" charset="77"/>
              </a:rPr>
              <a:t>Recognition based incentive programs (“</a:t>
            </a:r>
            <a:r>
              <a:rPr lang="en-US" sz="2800" dirty="0" err="1">
                <a:latin typeface="Playfair Display" pitchFamily="2" charset="77"/>
                <a:cs typeface="Phosphate Inline" panose="02000506050000020004" pitchFamily="2" charset="77"/>
              </a:rPr>
              <a:t>DashStar</a:t>
            </a:r>
            <a:r>
              <a:rPr lang="en-US" sz="2800" dirty="0">
                <a:latin typeface="Playfair Display" pitchFamily="2" charset="77"/>
                <a:cs typeface="Phosphate Inline" panose="02000506050000020004" pitchFamily="2" charset="77"/>
              </a:rPr>
              <a:t> of the Month”)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layfair Display" pitchFamily="2" charset="77"/>
                <a:cs typeface="Phosphate Inline" panose="02000506050000020004" pitchFamily="2" charset="77"/>
              </a:rPr>
              <a:t>Training and development programs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layfair Display" pitchFamily="2" charset="77"/>
                <a:cs typeface="Phosphate Inline" panose="02000506050000020004" pitchFamily="2" charset="77"/>
              </a:rPr>
              <a:t>Performance-based bonuses and incentives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layfair Display" pitchFamily="2" charset="77"/>
                <a:cs typeface="Phosphate Inline" panose="02000506050000020004" pitchFamily="2" charset="77"/>
              </a:rPr>
              <a:t>Flexible scheduling and career advancement opportunities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layfair Display" pitchFamily="2" charset="77"/>
                <a:cs typeface="Phosphate Inline" panose="02000506050000020004" pitchFamily="2" charset="77"/>
              </a:rPr>
              <a:t>Employee feedback systems </a:t>
            </a:r>
          </a:p>
          <a:p>
            <a:pPr lvl="1"/>
            <a:endParaRPr lang="en-US" sz="2800" dirty="0">
              <a:latin typeface="Playfair Display" pitchFamily="2" charset="77"/>
              <a:cs typeface="Phosphate Inline" panose="02000506050000020004" pitchFamily="2" charset="77"/>
            </a:endParaRPr>
          </a:p>
          <a:p>
            <a:r>
              <a:rPr lang="en-US" sz="2800" dirty="0">
                <a:latin typeface="Playfair Display" pitchFamily="2" charset="77"/>
                <a:cs typeface="Phosphate Inline" panose="02000506050000020004" pitchFamily="2" charset="77"/>
              </a:rPr>
              <a:t>Our goal is to create a supportive and motivating work environment for our employees. </a:t>
            </a:r>
          </a:p>
          <a:p>
            <a:endParaRPr lang="en-US" sz="2800" dirty="0">
              <a:latin typeface="Playfair Display" pitchFamily="2" charset="77"/>
              <a:cs typeface="Phosphate Inline" panose="02000506050000020004" pitchFamily="2" charset="77"/>
            </a:endParaRPr>
          </a:p>
          <a:p>
            <a:r>
              <a:rPr lang="en-US" sz="2800" dirty="0">
                <a:latin typeface="Playfair Display" pitchFamily="2" charset="77"/>
                <a:cs typeface="Phosphate Inline" panose="02000506050000020004" pitchFamily="2" charset="77"/>
              </a:rPr>
              <a:t>Best regards, </a:t>
            </a:r>
          </a:p>
          <a:p>
            <a:r>
              <a:rPr lang="en-US" sz="2800" dirty="0">
                <a:latin typeface="Playfair Display" pitchFamily="2" charset="77"/>
                <a:cs typeface="Phosphate Inline" panose="02000506050000020004" pitchFamily="2" charset="77"/>
              </a:rPr>
              <a:t>DormDash Management Team</a:t>
            </a:r>
          </a:p>
          <a:p>
            <a:pPr lvl="1"/>
            <a:endParaRPr lang="en-US" sz="2800" dirty="0">
              <a:latin typeface="Playfair Display" pitchFamily="2" charset="77"/>
              <a:cs typeface="Phosphate Inline" panose="02000506050000020004" pitchFamily="2" charset="77"/>
            </a:endParaRPr>
          </a:p>
          <a:p>
            <a:pPr lvl="1"/>
            <a:endParaRPr lang="en-US" sz="2800" dirty="0">
              <a:latin typeface="Playfair Display" pitchFamily="2" charset="77"/>
              <a:cs typeface="Phosphate Inline" panose="02000506050000020004" pitchFamily="2" charset="77"/>
            </a:endParaRP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56E0CD9D-2FBF-0FBC-DF9D-6A6101A3B440}"/>
              </a:ext>
            </a:extLst>
          </p:cNvPr>
          <p:cNvGrpSpPr/>
          <p:nvPr/>
        </p:nvGrpSpPr>
        <p:grpSpPr>
          <a:xfrm>
            <a:off x="571492" y="1834113"/>
            <a:ext cx="17145000" cy="7187102"/>
            <a:chOff x="0" y="-28575"/>
            <a:chExt cx="2364475" cy="1247884"/>
          </a:xfrm>
        </p:grpSpPr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4B0BD852-071D-A6CE-2C8F-0512AD2B0396}"/>
                </a:ext>
              </a:extLst>
            </p:cNvPr>
            <p:cNvSpPr/>
            <p:nvPr/>
          </p:nvSpPr>
          <p:spPr>
            <a:xfrm>
              <a:off x="0" y="0"/>
              <a:ext cx="2364475" cy="1219309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11">
              <a:extLst>
                <a:ext uri="{FF2B5EF4-FFF2-40B4-BE49-F238E27FC236}">
                  <a16:creationId xmlns:a16="http://schemas.microsoft.com/office/drawing/2014/main" id="{28C583E4-9A41-F345-7A9C-0F208C7A0D60}"/>
                </a:ext>
              </a:extLst>
            </p:cNvPr>
            <p:cNvSpPr txBox="1"/>
            <p:nvPr/>
          </p:nvSpPr>
          <p:spPr>
            <a:xfrm>
              <a:off x="0" y="-28575"/>
              <a:ext cx="2364475" cy="1198723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FAFBD31-4DF8-AAA7-FDDE-0EA9FFEA3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8471" y="8441631"/>
            <a:ext cx="4343400" cy="25992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45899" y="674337"/>
            <a:ext cx="16230600" cy="1370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sym typeface="Public Sans Bold"/>
              </a:rPr>
              <a:t>Key Drivers &amp; Actions for Employee Engagement </a:t>
            </a:r>
            <a:endParaRPr lang="en-US" sz="3700" dirty="0"/>
          </a:p>
          <a:p>
            <a:pPr>
              <a:lnSpc>
                <a:spcPts val="5200"/>
              </a:lnSpc>
              <a:spcBef>
                <a:spcPct val="0"/>
              </a:spcBef>
            </a:pPr>
            <a:endParaRPr lang="zh-CN" altLang="en-US" sz="6000" b="1" dirty="0">
              <a:latin typeface="Calibri"/>
              <a:ea typeface="SimSun"/>
              <a:cs typeface="Calibri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28686AF-E946-1F5A-BC14-129E1DB237EB}"/>
              </a:ext>
            </a:extLst>
          </p:cNvPr>
          <p:cNvSpPr txBox="1"/>
          <p:nvPr/>
        </p:nvSpPr>
        <p:spPr>
          <a:xfrm>
            <a:off x="507417" y="2044456"/>
            <a:ext cx="802698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3200" b="1" dirty="0">
                <a:latin typeface="Playfair Display" pitchFamily="2" charset="77"/>
                <a:cs typeface="Calibri"/>
              </a:rPr>
              <a:t>Key Drivers for Employee Engagement </a:t>
            </a:r>
            <a:endParaRPr lang="zh-CN" altLang="en-US" sz="3200" b="1" dirty="0">
              <a:latin typeface="Playfair Display" pitchFamily="2" charset="77"/>
              <a:cs typeface="Calibri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1515AA6-DACA-B6D7-75A3-18201A3DA2BA}"/>
              </a:ext>
            </a:extLst>
          </p:cNvPr>
          <p:cNvSpPr txBox="1"/>
          <p:nvPr/>
        </p:nvSpPr>
        <p:spPr>
          <a:xfrm>
            <a:off x="9419302" y="2034125"/>
            <a:ext cx="654045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3200" b="1" dirty="0">
                <a:latin typeface="Playfair Display" pitchFamily="2" charset="77"/>
                <a:ea typeface="宋体"/>
                <a:cs typeface="Calibri"/>
              </a:rPr>
              <a:t>Actions </a:t>
            </a:r>
            <a:r>
              <a:rPr lang="en-US" altLang="zh-CN" sz="3200" b="1" dirty="0">
                <a:latin typeface="Playfair Display" pitchFamily="2" charset="77"/>
                <a:ea typeface="宋体"/>
                <a:cs typeface="Calibri"/>
              </a:rPr>
              <a:t>DormDash W</a:t>
            </a:r>
            <a:r>
              <a:rPr lang="zh-CN" altLang="en-US" sz="3200" b="1" dirty="0">
                <a:latin typeface="Playfair Display" pitchFamily="2" charset="77"/>
                <a:ea typeface="宋体"/>
                <a:cs typeface="Calibri"/>
              </a:rPr>
              <a:t>ill </a:t>
            </a:r>
            <a:r>
              <a:rPr lang="en-US" altLang="zh-CN" sz="3200" b="1" dirty="0">
                <a:latin typeface="Playfair Display" pitchFamily="2" charset="77"/>
                <a:ea typeface="宋体"/>
                <a:cs typeface="Calibri"/>
              </a:rPr>
              <a:t>T</a:t>
            </a:r>
            <a:r>
              <a:rPr lang="zh-CN" altLang="en-US" sz="3200" b="1" dirty="0">
                <a:latin typeface="Playfair Display" pitchFamily="2" charset="77"/>
                <a:ea typeface="宋体"/>
                <a:cs typeface="Calibri"/>
              </a:rPr>
              <a:t>ake</a:t>
            </a:r>
            <a:endParaRPr lang="zh-CN" altLang="en-US" sz="3200" b="1" dirty="0">
              <a:latin typeface="Playfair Display" pitchFamily="2" charset="77"/>
              <a:cs typeface="Calibri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C7C3AAD-9B2E-E785-E9A3-EA02404A7985}"/>
              </a:ext>
            </a:extLst>
          </p:cNvPr>
          <p:cNvSpPr txBox="1"/>
          <p:nvPr/>
        </p:nvSpPr>
        <p:spPr>
          <a:xfrm>
            <a:off x="545899" y="3038817"/>
            <a:ext cx="886985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400" dirty="0">
                <a:latin typeface="Playfair Display" pitchFamily="2" charset="77"/>
                <a:ea typeface="宋体"/>
                <a:cs typeface="Calibri"/>
              </a:rPr>
              <a:t>Clear communication</a:t>
            </a:r>
            <a:endParaRPr lang="zh-CN" sz="2400" dirty="0">
              <a:latin typeface="Playfair Display" pitchFamily="2" charset="77"/>
              <a:ea typeface="宋体"/>
              <a:cs typeface="Calibri"/>
            </a:endParaRPr>
          </a:p>
          <a:p>
            <a:pPr marL="342900" indent="-342900">
              <a:buAutoNum type="arabicPeriod"/>
            </a:pPr>
            <a:endParaRPr lang="zh-CN" altLang="en-US" sz="2400" dirty="0">
              <a:latin typeface="Playfair Display" pitchFamily="2" charset="77"/>
              <a:ea typeface="宋体"/>
              <a:cs typeface="Calibri"/>
            </a:endParaRPr>
          </a:p>
          <a:p>
            <a:pPr marL="342900" indent="-342900">
              <a:buAutoNum type="arabicPeriod"/>
            </a:pPr>
            <a:r>
              <a:rPr lang="zh-CN" altLang="en-US" sz="2400" dirty="0">
                <a:latin typeface="Playfair Display" pitchFamily="2" charset="77"/>
                <a:ea typeface="宋体"/>
                <a:cs typeface="Calibri"/>
              </a:rPr>
              <a:t>Recognition and appreciation</a:t>
            </a:r>
          </a:p>
          <a:p>
            <a:pPr marL="342900" indent="-342900">
              <a:buAutoNum type="arabicPeriod"/>
            </a:pPr>
            <a:endParaRPr lang="zh-CN" altLang="en-US" sz="2400" dirty="0">
              <a:latin typeface="Playfair Display" pitchFamily="2" charset="77"/>
              <a:ea typeface="宋体"/>
              <a:cs typeface="Calibri"/>
            </a:endParaRPr>
          </a:p>
          <a:p>
            <a:pPr marL="342900" indent="-342900">
              <a:buAutoNum type="arabicPeriod"/>
            </a:pPr>
            <a:r>
              <a:rPr lang="zh-CN" altLang="en-US" sz="2400" dirty="0">
                <a:latin typeface="Playfair Display" pitchFamily="2" charset="77"/>
                <a:ea typeface="宋体"/>
                <a:cs typeface="Calibri"/>
              </a:rPr>
              <a:t>Growth and developme</a:t>
            </a:r>
            <a:r>
              <a:rPr lang="en-US" altLang="zh-CN" sz="2400" dirty="0">
                <a:latin typeface="Playfair Display" pitchFamily="2" charset="77"/>
                <a:ea typeface="宋体"/>
                <a:cs typeface="Calibri"/>
              </a:rPr>
              <a:t>n</a:t>
            </a:r>
            <a:r>
              <a:rPr lang="zh-CN" altLang="en-US" sz="2400" dirty="0">
                <a:latin typeface="Playfair Display" pitchFamily="2" charset="77"/>
                <a:ea typeface="宋体"/>
                <a:cs typeface="Calibri"/>
              </a:rPr>
              <a:t>t opportunities</a:t>
            </a:r>
          </a:p>
          <a:p>
            <a:pPr marL="342900" indent="-342900">
              <a:buAutoNum type="arabicPeriod"/>
            </a:pPr>
            <a:endParaRPr lang="zh-CN" altLang="en-US" sz="2400" dirty="0">
              <a:latin typeface="Playfair Display" pitchFamily="2" charset="77"/>
              <a:ea typeface="宋体"/>
              <a:cs typeface="Calibri"/>
            </a:endParaRPr>
          </a:p>
          <a:p>
            <a:pPr marL="342900" indent="-342900">
              <a:buAutoNum type="arabicPeriod"/>
            </a:pPr>
            <a:r>
              <a:rPr lang="zh-CN" altLang="en-US" sz="2400" dirty="0">
                <a:latin typeface="Playfair Display" pitchFamily="2" charset="77"/>
                <a:ea typeface="宋体"/>
                <a:cs typeface="Calibri"/>
              </a:rPr>
              <a:t>Fair rewards and flexible scheduing</a:t>
            </a: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EEE7EA66-9968-2318-397D-7EC1393A7166}"/>
              </a:ext>
            </a:extLst>
          </p:cNvPr>
          <p:cNvSpPr/>
          <p:nvPr/>
        </p:nvSpPr>
        <p:spPr>
          <a:xfrm>
            <a:off x="300975" y="1406683"/>
            <a:ext cx="17041069" cy="42667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88DF4B-7F0C-94D2-FF67-7A35BC156025}"/>
              </a:ext>
            </a:extLst>
          </p:cNvPr>
          <p:cNvSpPr txBox="1"/>
          <p:nvPr/>
        </p:nvSpPr>
        <p:spPr>
          <a:xfrm>
            <a:off x="9457089" y="2901519"/>
            <a:ext cx="792628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</a:rPr>
              <a:t>Hold weekly team check-ins and provide clear scheduling</a:t>
            </a:r>
          </a:p>
          <a:p>
            <a:pPr marL="342900" indent="-342900">
              <a:buAutoNum type="arabicPeriod"/>
            </a:pPr>
            <a:endParaRPr lang="en-US" sz="2400" dirty="0">
              <a:latin typeface="Playfair Display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</a:rPr>
              <a:t>Recognize strong performers (e.g., “Employee of the Month”)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Playfair Display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</a:rPr>
              <a:t>Create a clear path for advancement into higher position (e.g., promotion timeline)</a:t>
            </a:r>
          </a:p>
          <a:p>
            <a:endParaRPr lang="en-US" sz="2400" dirty="0">
              <a:latin typeface="Playfair Display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</a:rPr>
              <a:t>Provide flexibility scheduling around student needs</a:t>
            </a:r>
          </a:p>
          <a:p>
            <a:pPr marL="342900" indent="-342900">
              <a:buAutoNum type="arabicPeriod"/>
            </a:pPr>
            <a:endParaRPr lang="en-US" sz="2400" dirty="0">
              <a:latin typeface="Playfair Display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Playfair Display" pitchFamily="2" charset="77"/>
              </a:rPr>
              <a:t>Provide performance-based incentives (e.g., bonuses for high customer ratings</a:t>
            </a:r>
            <a:r>
              <a:rPr lang="en-US" sz="2400" dirty="0">
                <a:latin typeface="Playfair Display" pitchFamily="2" charset="77"/>
                <a:sym typeface="Wingdings" pitchFamily="2" charset="2"/>
              </a:rPr>
              <a:t>)</a:t>
            </a:r>
            <a:endParaRPr lang="en-US" sz="2400" dirty="0">
              <a:latin typeface="Playfair Display" pitchFamily="2" charset="77"/>
            </a:endParaRPr>
          </a:p>
        </p:txBody>
      </p:sp>
      <p:grpSp>
        <p:nvGrpSpPr>
          <p:cNvPr id="37" name="Group 9">
            <a:extLst>
              <a:ext uri="{FF2B5EF4-FFF2-40B4-BE49-F238E27FC236}">
                <a16:creationId xmlns:a16="http://schemas.microsoft.com/office/drawing/2014/main" id="{C6D6F67D-461E-22C2-6080-02800314A452}"/>
              </a:ext>
            </a:extLst>
          </p:cNvPr>
          <p:cNvGrpSpPr/>
          <p:nvPr/>
        </p:nvGrpSpPr>
        <p:grpSpPr>
          <a:xfrm>
            <a:off x="9415758" y="1778838"/>
            <a:ext cx="8397800" cy="6973481"/>
            <a:chOff x="0" y="-28575"/>
            <a:chExt cx="2364475" cy="1247884"/>
          </a:xfrm>
        </p:grpSpPr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2C562BAB-DA4E-05DA-F286-22EB7F8041E6}"/>
                </a:ext>
              </a:extLst>
            </p:cNvPr>
            <p:cNvSpPr/>
            <p:nvPr/>
          </p:nvSpPr>
          <p:spPr>
            <a:xfrm>
              <a:off x="0" y="0"/>
              <a:ext cx="2364475" cy="1219309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5FF6B798-B479-C668-0EC7-8978B1D2E31F}"/>
                </a:ext>
              </a:extLst>
            </p:cNvPr>
            <p:cNvSpPr txBox="1"/>
            <p:nvPr/>
          </p:nvSpPr>
          <p:spPr>
            <a:xfrm>
              <a:off x="0" y="-28575"/>
              <a:ext cx="2364475" cy="1198723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40" name="Group 9">
            <a:extLst>
              <a:ext uri="{FF2B5EF4-FFF2-40B4-BE49-F238E27FC236}">
                <a16:creationId xmlns:a16="http://schemas.microsoft.com/office/drawing/2014/main" id="{66D6796F-6E69-7A1E-E6A9-402D61AA8FB8}"/>
              </a:ext>
            </a:extLst>
          </p:cNvPr>
          <p:cNvGrpSpPr/>
          <p:nvPr/>
        </p:nvGrpSpPr>
        <p:grpSpPr>
          <a:xfrm>
            <a:off x="504568" y="1778839"/>
            <a:ext cx="8397800" cy="6973480"/>
            <a:chOff x="0" y="-28575"/>
            <a:chExt cx="2364475" cy="1247884"/>
          </a:xfrm>
        </p:grpSpPr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2B42C2E7-7FF8-DF9A-82CA-C29BFB286B71}"/>
                </a:ext>
              </a:extLst>
            </p:cNvPr>
            <p:cNvSpPr/>
            <p:nvPr/>
          </p:nvSpPr>
          <p:spPr>
            <a:xfrm>
              <a:off x="0" y="0"/>
              <a:ext cx="2364475" cy="1219309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47CE66A3-B309-C0CF-258B-C1D574C2812E}"/>
                </a:ext>
              </a:extLst>
            </p:cNvPr>
            <p:cNvSpPr txBox="1"/>
            <p:nvPr/>
          </p:nvSpPr>
          <p:spPr>
            <a:xfrm>
              <a:off x="0" y="-28575"/>
              <a:ext cx="2364475" cy="1198723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43" name="Right Arrow 42">
            <a:extLst>
              <a:ext uri="{FF2B5EF4-FFF2-40B4-BE49-F238E27FC236}">
                <a16:creationId xmlns:a16="http://schemas.microsoft.com/office/drawing/2014/main" id="{A6A2DA87-1D61-FE61-178E-3C69ADC3A24F}"/>
              </a:ext>
            </a:extLst>
          </p:cNvPr>
          <p:cNvSpPr/>
          <p:nvPr/>
        </p:nvSpPr>
        <p:spPr>
          <a:xfrm>
            <a:off x="8332305" y="5055781"/>
            <a:ext cx="978408" cy="4846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497DFD8-213B-B9B0-A7D4-F83015EA3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57" y="8113122"/>
            <a:ext cx="4934607" cy="32938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38861-C61C-EF1E-48F8-4B5B5A0E7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F5C9EFC9-0A4C-FB72-FCC1-165478C8587D}"/>
              </a:ext>
            </a:extLst>
          </p:cNvPr>
          <p:cNvSpPr txBox="1"/>
          <p:nvPr/>
        </p:nvSpPr>
        <p:spPr>
          <a:xfrm>
            <a:off x="476250" y="515014"/>
            <a:ext cx="16230600" cy="609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SIPOC Process Map</a:t>
            </a:r>
            <a:endParaRPr lang="en-US" sz="3714" b="1" spc="843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050460B-FAAD-2260-AA4B-3F3DA0F627BC}"/>
              </a:ext>
            </a:extLst>
          </p:cNvPr>
          <p:cNvGrpSpPr/>
          <p:nvPr/>
        </p:nvGrpSpPr>
        <p:grpSpPr>
          <a:xfrm>
            <a:off x="6144946" y="-2002193"/>
            <a:ext cx="8824332" cy="1669217"/>
            <a:chOff x="0" y="0"/>
            <a:chExt cx="4058845" cy="767774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9BD38180-85F6-B3F2-D79A-F24A4381E985}"/>
                </a:ext>
              </a:extLst>
            </p:cNvPr>
            <p:cNvSpPr/>
            <p:nvPr/>
          </p:nvSpPr>
          <p:spPr>
            <a:xfrm>
              <a:off x="0" y="0"/>
              <a:ext cx="4058845" cy="767774"/>
            </a:xfrm>
            <a:custGeom>
              <a:avLst/>
              <a:gdLst/>
              <a:ahLst/>
              <a:cxnLst/>
              <a:rect l="l" t="t" r="r" b="b"/>
              <a:pathLst>
                <a:path w="4058845" h="767774">
                  <a:moveTo>
                    <a:pt x="0" y="0"/>
                  </a:moveTo>
                  <a:lnTo>
                    <a:pt x="4058845" y="0"/>
                  </a:lnTo>
                  <a:lnTo>
                    <a:pt x="4058845" y="767774"/>
                  </a:lnTo>
                  <a:lnTo>
                    <a:pt x="0" y="767774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83D9C92D-289E-3C0C-F562-E2CDFE4E59F9}"/>
                </a:ext>
              </a:extLst>
            </p:cNvPr>
            <p:cNvSpPr txBox="1"/>
            <p:nvPr/>
          </p:nvSpPr>
          <p:spPr>
            <a:xfrm>
              <a:off x="0" y="-28575"/>
              <a:ext cx="4058845" cy="796349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0BAB5DE7-1877-357E-A4B7-B9E191E7C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392568"/>
              </p:ext>
            </p:extLst>
          </p:nvPr>
        </p:nvGraphicFramePr>
        <p:xfrm>
          <a:off x="509920" y="1798412"/>
          <a:ext cx="17335500" cy="797357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181350">
                  <a:extLst>
                    <a:ext uri="{9D8B030D-6E8A-4147-A177-3AD203B41FA5}">
                      <a16:colId xmlns:a16="http://schemas.microsoft.com/office/drawing/2014/main" val="108583758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71251602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6301518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699383794"/>
                    </a:ext>
                  </a:extLst>
                </a:gridCol>
                <a:gridCol w="4171950">
                  <a:extLst>
                    <a:ext uri="{9D8B030D-6E8A-4147-A177-3AD203B41FA5}">
                      <a16:colId xmlns:a16="http://schemas.microsoft.com/office/drawing/2014/main" val="1434114672"/>
                    </a:ext>
                  </a:extLst>
                </a:gridCol>
              </a:tblGrid>
              <a:tr h="730561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Playfair Display" pitchFamily="2" charset="77"/>
                        </a:rPr>
                        <a:t>Suppliers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latin typeface="Playfair Display" pitchFamily="2" charset="77"/>
                        </a:rPr>
                        <a:t>Inputs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latin typeface="Playfair Display" pitchFamily="2" charset="77"/>
                        </a:rPr>
                        <a:t>Process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latin typeface="Playfair Display" pitchFamily="2" charset="77"/>
                        </a:rPr>
                        <a:t>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latin typeface="Playfair Display" pitchFamily="2" charset="77"/>
                        </a:rPr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212228"/>
                  </a:ext>
                </a:extLst>
              </a:tr>
              <a:tr h="7243013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sym typeface="Public Sans"/>
                        </a:rPr>
                        <a:t>Restaurants/Campus dining halls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latin typeface="Playfair Display" pitchFamily="2" charset="77"/>
                        <a:ea typeface="Calibri"/>
                        <a:cs typeface="Calibri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ea typeface="Public Sans"/>
                          <a:cs typeface="Public Sans"/>
                          <a:sym typeface="Public Sans"/>
                        </a:rPr>
                        <a:t>Retail partners (Campus stores)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latin typeface="Playfair Display" pitchFamily="2" charset="77"/>
                        <a:ea typeface="Calibri"/>
                        <a:cs typeface="Calibri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ea typeface="Public Sans"/>
                          <a:cs typeface="Public Sans"/>
                          <a:sym typeface="Public Sans"/>
                        </a:rPr>
                        <a:t>App platform provider</a:t>
                      </a:r>
                    </a:p>
                    <a:p>
                      <a:endParaRPr lang="en-US" sz="2400" dirty="0">
                        <a:solidFill>
                          <a:srgbClr val="2B2C30"/>
                        </a:solidFill>
                        <a:latin typeface="Playfair Display" pitchFamily="2" charset="77"/>
                        <a:ea typeface="Public Sans"/>
                        <a:cs typeface="Public San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ea typeface="Public Sans"/>
                          <a:cs typeface="Public Sans"/>
                          <a:sym typeface="Public Sans"/>
                        </a:rPr>
                        <a:t>DormDash drivers</a:t>
                      </a:r>
                      <a:endParaRPr lang="en-US" sz="2400" dirty="0">
                        <a:solidFill>
                          <a:srgbClr val="2B2C30"/>
                        </a:solidFill>
                        <a:latin typeface="Playfair Display" pitchFamily="2" charset="77"/>
                        <a:ea typeface="Public Sans"/>
                        <a:cs typeface="Public San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sym typeface="Public Sans"/>
                        </a:rPr>
                        <a:t>Customer order (App)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solidFill>
                          <a:srgbClr val="2B2C30"/>
                        </a:solidFill>
                        <a:latin typeface="Playfair Display" pitchFamily="2" charset="77"/>
                        <a:sym typeface="Public San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sym typeface="Public Sans"/>
                        </a:rPr>
                        <a:t>Menu/Item availability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latin typeface="Playfair Display" pitchFamily="2" charset="77"/>
                        <a:sym typeface="Public San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sym typeface="Public Sans"/>
                        </a:rPr>
                        <a:t>Driver availability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solidFill>
                          <a:srgbClr val="000000"/>
                        </a:solidFill>
                        <a:latin typeface="Playfair Display" pitchFamily="2" charset="77"/>
                        <a:ea typeface="Calibri"/>
                        <a:cs typeface="Calibri"/>
                        <a:sym typeface="Public San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sym typeface="Public Sans"/>
                        </a:rPr>
                        <a:t>Delivery location and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Playfair Display" pitchFamily="2" charset="77"/>
                          <a:cs typeface="Calibri"/>
                          <a:sym typeface="Public Sans"/>
                        </a:rPr>
                        <a:t> </a:t>
                      </a: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sym typeface="Public Sans"/>
                        </a:rPr>
                        <a:t>payment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sym typeface="Public Sans"/>
                        </a:rPr>
                        <a:t>Customer places order (App)</a:t>
                      </a:r>
                    </a:p>
                    <a:p>
                      <a:endParaRPr lang="en-US" sz="2400" dirty="0">
                        <a:solidFill>
                          <a:srgbClr val="000000"/>
                        </a:solidFill>
                        <a:latin typeface="Playfair Display" pitchFamily="2" charset="77"/>
                        <a:ea typeface="Calibri"/>
                        <a:cs typeface="Calibri"/>
                        <a:sym typeface="Public San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sym typeface="Public Sans"/>
                        </a:rPr>
                        <a:t>Order sent to restaurant/store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solidFill>
                          <a:srgbClr val="2B2C30"/>
                        </a:solidFill>
                        <a:latin typeface="Playfair Display" pitchFamily="2" charset="77"/>
                        <a:sym typeface="Public San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sym typeface="Public Sans"/>
                        </a:rPr>
                        <a:t>Order prepared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solidFill>
                          <a:srgbClr val="000000"/>
                        </a:solidFill>
                        <a:latin typeface="Playfair Display" pitchFamily="2" charset="77"/>
                        <a:ea typeface="Calibri"/>
                        <a:cs typeface="Calibri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sym typeface="Public Sans"/>
                        </a:rPr>
                        <a:t>Driver is assigned and picks up order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latin typeface="Playfair Display" pitchFamily="2" charset="77"/>
                        <a:ea typeface="Calibri"/>
                        <a:cs typeface="Calibri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sym typeface="Public Sans"/>
                        </a:rPr>
                        <a:t>Order delivered to dorm/apartment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solidFill>
                          <a:srgbClr val="2B2C30"/>
                        </a:solidFill>
                        <a:latin typeface="Playfair Display" pitchFamily="2" charset="77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sym typeface="Public Sans"/>
                        </a:rPr>
                        <a:t>Customer confirms receipt and rates service </a:t>
                      </a:r>
                      <a:endParaRPr lang="en-US" sz="2400" dirty="0">
                        <a:latin typeface="Playfair Display" pitchFamily="2" charset="77"/>
                        <a:sym typeface="Public Sans"/>
                      </a:endParaRPr>
                    </a:p>
                    <a:p>
                      <a:pPr>
                        <a:lnSpc>
                          <a:spcPts val="2520"/>
                        </a:lnSpc>
                      </a:pPr>
                      <a:endParaRPr lang="en-US" sz="2400" dirty="0">
                        <a:solidFill>
                          <a:srgbClr val="2B2C30"/>
                        </a:solidFill>
                        <a:latin typeface="Playfair Display" pitchFamily="2" charset="77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</a:rPr>
                        <a:t>Delivered order</a:t>
                      </a:r>
                    </a:p>
                    <a:p>
                      <a:endParaRPr lang="en-US" sz="2400" dirty="0">
                        <a:latin typeface="Playfair Display" pitchFamily="2" charset="77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</a:rPr>
                        <a:t>Order confirmation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latin typeface="Playfair Display" pitchFamily="2" charset="77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</a:rPr>
                        <a:t>Customer rating/feedback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dirty="0">
                          <a:solidFill>
                            <a:srgbClr val="2B2C30"/>
                          </a:solidFill>
                          <a:latin typeface="Playfair Display" pitchFamily="2" charset="77"/>
                          <a:ea typeface="Public Sans"/>
                          <a:cs typeface="Public Sans"/>
                          <a:sym typeface="Public Sans"/>
                        </a:rPr>
                        <a:t>Who</a:t>
                      </a: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ea typeface="Public Sans"/>
                          <a:cs typeface="Public Sans"/>
                          <a:sym typeface="Public Sans"/>
                        </a:rPr>
                        <a:t>: College students living in campus dorms/apartments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solidFill>
                          <a:srgbClr val="000000"/>
                        </a:solidFill>
                        <a:latin typeface="Playfair Display" pitchFamily="2" charset="77"/>
                        <a:ea typeface="Public Sans"/>
                        <a:cs typeface="Public Sans"/>
                        <a:sym typeface="Public San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dirty="0">
                          <a:solidFill>
                            <a:srgbClr val="2B2C30"/>
                          </a:solidFill>
                          <a:latin typeface="Playfair Display" pitchFamily="2" charset="77"/>
                          <a:ea typeface="Public Sans"/>
                          <a:cs typeface="Public Sans"/>
                          <a:sym typeface="Public Sans"/>
                        </a:rPr>
                        <a:t>Desired Customer behaviors</a:t>
                      </a: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ea typeface="Public Sans"/>
                          <a:cs typeface="Public Sans"/>
                          <a:sym typeface="Public Sans"/>
                        </a:rPr>
                        <a:t>: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Playfair Display" pitchFamily="2" charset="77"/>
                          <a:ea typeface="+mn-ea"/>
                          <a:cs typeface="+mn-cs"/>
                        </a:rPr>
                        <a:t>Positive reviews/ ratings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Playfair Display" pitchFamily="2" charset="77"/>
                          <a:ea typeface="+mn-ea"/>
                          <a:cs typeface="+mn-cs"/>
                        </a:rPr>
                        <a:t>Repeated usage of DormDash app 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Playfair Display" pitchFamily="2" charset="77"/>
                          <a:ea typeface="+mn-ea"/>
                          <a:cs typeface="+mn-cs"/>
                        </a:rPr>
                        <a:t>Word-of-mouth referrals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solidFill>
                          <a:srgbClr val="000000"/>
                        </a:solidFill>
                        <a:latin typeface="Playfair Display" pitchFamily="2" charset="77"/>
                        <a:ea typeface="Public Sans"/>
                        <a:cs typeface="Public Sans"/>
                        <a:sym typeface="Public San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dirty="0">
                          <a:solidFill>
                            <a:srgbClr val="2B2C30"/>
                          </a:solidFill>
                          <a:latin typeface="Playfair Display" pitchFamily="2" charset="77"/>
                          <a:ea typeface="Public Sans"/>
                          <a:cs typeface="Public Sans"/>
                          <a:sym typeface="Public Sans"/>
                        </a:rPr>
                        <a:t>Requirements</a:t>
                      </a:r>
                      <a:r>
                        <a:rPr lang="en-US" sz="2400" dirty="0">
                          <a:solidFill>
                            <a:srgbClr val="2B2C30"/>
                          </a:solidFill>
                          <a:latin typeface="Playfair Display" pitchFamily="2" charset="77"/>
                          <a:ea typeface="Public Sans"/>
                          <a:cs typeface="Public Sans"/>
                          <a:sym typeface="Public Sans"/>
                        </a:rPr>
                        <a:t>: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Playfair Display" pitchFamily="2" charset="77"/>
                          <a:ea typeface="+mn-ea"/>
                          <a:cs typeface="+mn-cs"/>
                        </a:rPr>
                        <a:t>Accurate orders.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Playfair Display" pitchFamily="2" charset="77"/>
                          <a:ea typeface="+mn-ea"/>
                          <a:cs typeface="+mn-cs"/>
                        </a:rPr>
                        <a:t>Affordable pricing. 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Playfair Display" pitchFamily="2" charset="77"/>
                          <a:ea typeface="+mn-ea"/>
                          <a:cs typeface="+mn-cs"/>
                        </a:rPr>
                        <a:t>Fast delivery.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Playfair Display" pitchFamily="2" charset="77"/>
                          <a:ea typeface="+mn-ea"/>
                          <a:cs typeface="+mn-cs"/>
                        </a:rPr>
                        <a:t>availability during midterm/final season. 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Playfair Display" pitchFamily="2" charset="77"/>
                          <a:ea typeface="+mn-ea"/>
                          <a:cs typeface="+mn-cs"/>
                        </a:rPr>
                        <a:t>Easy process to place orders.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388597"/>
                  </a:ext>
                </a:extLst>
              </a:tr>
            </a:tbl>
          </a:graphicData>
        </a:graphic>
      </p:graphicFrame>
      <p:sp>
        <p:nvSpPr>
          <p:cNvPr id="45" name="AutoShape 3">
            <a:extLst>
              <a:ext uri="{FF2B5EF4-FFF2-40B4-BE49-F238E27FC236}">
                <a16:creationId xmlns:a16="http://schemas.microsoft.com/office/drawing/2014/main" id="{E65DB922-FF23-17DD-5F0E-5DB7F9761C21}"/>
              </a:ext>
            </a:extLst>
          </p:cNvPr>
          <p:cNvSpPr/>
          <p:nvPr/>
        </p:nvSpPr>
        <p:spPr>
          <a:xfrm flipV="1">
            <a:off x="476250" y="1257300"/>
            <a:ext cx="17335500" cy="38508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440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85079" y="385191"/>
            <a:ext cx="16084296" cy="609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Effectiveness &amp; Efficiency Measurement Chart </a:t>
            </a:r>
            <a:endParaRPr lang="en-US" sz="3714" b="1" spc="843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381000" y="1173669"/>
            <a:ext cx="17635728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FFB5D7-1AF5-B3C0-46E0-BE0723B99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1649159"/>
            <a:ext cx="8939784" cy="7455027"/>
          </a:xfrm>
          <a:prstGeom prst="rect">
            <a:avLst/>
          </a:prstGeom>
        </p:spPr>
      </p:pic>
      <p:pic>
        <p:nvPicPr>
          <p:cNvPr id="3" name="Picture 2" descr="A graph of a cost per delivery&#10;&#10;AI-generated content may be incorrect.">
            <a:extLst>
              <a:ext uri="{FF2B5EF4-FFF2-40B4-BE49-F238E27FC236}">
                <a16:creationId xmlns:a16="http://schemas.microsoft.com/office/drawing/2014/main" id="{BB9052BA-9134-7F87-02F5-857213D7D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992" y="1645539"/>
            <a:ext cx="8555736" cy="746226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2942065" y="2619214"/>
            <a:ext cx="4215972" cy="3099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79"/>
              </a:lnSpc>
            </a:pPr>
            <a:r>
              <a:rPr lang="en-US" sz="3200" b="1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Expected Outcomes</a:t>
            </a:r>
          </a:p>
          <a:p>
            <a:pPr marL="914400" lvl="1" indent="-457200">
              <a:lnSpc>
                <a:spcPts val="3479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Lower cost per delivery </a:t>
            </a:r>
          </a:p>
          <a:p>
            <a:pPr marL="914400" lvl="1" indent="-457200">
              <a:lnSpc>
                <a:spcPts val="3479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Faster delivery times </a:t>
            </a:r>
          </a:p>
          <a:p>
            <a:pPr marL="914400" lvl="1" indent="-457200">
              <a:lnSpc>
                <a:spcPts val="3479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Higher repeat order rate </a:t>
            </a:r>
          </a:p>
          <a:p>
            <a:pPr marL="914400" lvl="1" indent="-457200">
              <a:lnSpc>
                <a:spcPts val="3479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Improved customer satisfaction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0149" y="2636796"/>
            <a:ext cx="4231857" cy="3099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79"/>
              </a:lnSpc>
            </a:pPr>
            <a:r>
              <a:rPr lang="en-US" altLang="zh-CN" sz="3200" b="1" dirty="0">
                <a:latin typeface="Playfair Display" pitchFamily="2" charset="77"/>
                <a:cs typeface="Calibri"/>
              </a:rPr>
              <a:t>Problem</a:t>
            </a:r>
          </a:p>
          <a:p>
            <a:pPr marL="1028700" lvl="1" indent="-571500">
              <a:lnSpc>
                <a:spcPts val="3479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Playfair Display" pitchFamily="2" charset="77"/>
                <a:cs typeface="Calibri"/>
              </a:rPr>
              <a:t>High delivery cost per order </a:t>
            </a:r>
          </a:p>
          <a:p>
            <a:pPr marL="1028700" lvl="1" indent="-571500">
              <a:lnSpc>
                <a:spcPts val="3479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Playfair Display" pitchFamily="2" charset="77"/>
                <a:cs typeface="Calibri"/>
              </a:rPr>
              <a:t>Inefficient routing during peak hours </a:t>
            </a:r>
          </a:p>
          <a:p>
            <a:pPr marL="1028700" lvl="1" indent="-571500">
              <a:lnSpc>
                <a:spcPts val="3479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Playfair Display" pitchFamily="2" charset="77"/>
                <a:cs typeface="Calibri"/>
              </a:rPr>
              <a:t>Slower service reduces repeat orders  </a:t>
            </a:r>
            <a:endParaRPr lang="zh-CN" altLang="en-US" sz="2400" dirty="0">
              <a:latin typeface="Playfair Display" pitchFamily="2" charset="77"/>
              <a:cs typeface="Calibri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666349" y="2619214"/>
            <a:ext cx="4952999" cy="3099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79"/>
              </a:lnSpc>
            </a:pPr>
            <a:r>
              <a:rPr lang="en-US" altLang="zh-CN" sz="3200" b="1" dirty="0">
                <a:solidFill>
                  <a:srgbClr val="2B2C30"/>
                </a:solidFill>
                <a:latin typeface="Playfair Display" pitchFamily="2" charset="77"/>
                <a:ea typeface="宋体"/>
                <a:cs typeface="+mn-lt"/>
              </a:rPr>
              <a:t>Initiative </a:t>
            </a:r>
          </a:p>
          <a:p>
            <a:pPr marL="914400" lvl="1" indent="-457200">
              <a:lnSpc>
                <a:spcPts val="3479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B2C30"/>
                </a:solidFill>
                <a:latin typeface="Playfair Display" pitchFamily="2" charset="77"/>
                <a:ea typeface="宋体"/>
                <a:cs typeface="+mn-lt"/>
              </a:rPr>
              <a:t>Group nearby deliveries into one trip </a:t>
            </a:r>
          </a:p>
          <a:p>
            <a:pPr marL="914400" lvl="1" indent="-457200">
              <a:lnSpc>
                <a:spcPts val="3479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B2C30"/>
                </a:solidFill>
                <a:latin typeface="Playfair Display" pitchFamily="2" charset="77"/>
                <a:ea typeface="宋体"/>
                <a:cs typeface="+mn-lt"/>
              </a:rPr>
              <a:t>Optimize driver routes to reduce travel time </a:t>
            </a:r>
          </a:p>
          <a:p>
            <a:pPr marL="914400" lvl="1" indent="-457200">
              <a:lnSpc>
                <a:spcPts val="3479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B2C30"/>
                </a:solidFill>
                <a:latin typeface="Playfair Display" pitchFamily="2" charset="77"/>
                <a:ea typeface="宋体"/>
                <a:cs typeface="+mn-lt"/>
              </a:rPr>
              <a:t>Improve driver productivity and efficiency </a:t>
            </a:r>
            <a:endParaRPr lang="zh-CN" altLang="en-US" sz="2400" dirty="0">
              <a:solidFill>
                <a:srgbClr val="000000"/>
              </a:solidFill>
              <a:latin typeface="Playfair Display" pitchFamily="2" charset="77"/>
              <a:ea typeface="宋体"/>
              <a:cs typeface="+mn-l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20149" y="7496102"/>
            <a:ext cx="17214674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3200" b="1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Target</a:t>
            </a:r>
            <a:r>
              <a:rPr lang="en-US" sz="3200" dirty="0">
                <a:solidFill>
                  <a:srgbClr val="2B2C30"/>
                </a:solidFill>
                <a:latin typeface="Playfair Display" pitchFamily="2" charset="77"/>
                <a:ea typeface="+mn-lt"/>
                <a:cs typeface="+mn-lt"/>
              </a:rPr>
              <a:t>: Reduce overall cost per delivery to $5.00 and improve DormDash customer retention.  </a:t>
            </a:r>
            <a:endParaRPr lang="zh-CN" altLang="en-US" sz="3200" dirty="0">
              <a:latin typeface="Playfair Display" pitchFamily="2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BDF0E4-CB3E-05EA-9FA5-6022B0758D66}"/>
              </a:ext>
            </a:extLst>
          </p:cNvPr>
          <p:cNvSpPr txBox="1"/>
          <p:nvPr/>
        </p:nvSpPr>
        <p:spPr>
          <a:xfrm>
            <a:off x="806052" y="630152"/>
            <a:ext cx="12856535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00" b="1" spc="843" dirty="0">
                <a:solidFill>
                  <a:srgbClr val="2B2C30"/>
                </a:solidFill>
                <a:latin typeface="Public Sans Bold"/>
                <a:sym typeface="Public Sans Bold"/>
              </a:rPr>
              <a:t>Route Optimization Initiative </a:t>
            </a:r>
            <a:endParaRPr lang="en-US" sz="3700" dirty="0"/>
          </a:p>
        </p:txBody>
      </p:sp>
      <p:sp>
        <p:nvSpPr>
          <p:cNvPr id="39" name="AutoShape 5">
            <a:extLst>
              <a:ext uri="{FF2B5EF4-FFF2-40B4-BE49-F238E27FC236}">
                <a16:creationId xmlns:a16="http://schemas.microsoft.com/office/drawing/2014/main" id="{011731DB-2F95-FF4E-FF52-E9F9264CD4BC}"/>
              </a:ext>
            </a:extLst>
          </p:cNvPr>
          <p:cNvSpPr/>
          <p:nvPr/>
        </p:nvSpPr>
        <p:spPr>
          <a:xfrm flipV="1">
            <a:off x="859657" y="1294693"/>
            <a:ext cx="16568685" cy="122246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0" name="Group 9">
            <a:extLst>
              <a:ext uri="{FF2B5EF4-FFF2-40B4-BE49-F238E27FC236}">
                <a16:creationId xmlns:a16="http://schemas.microsoft.com/office/drawing/2014/main" id="{689EFC91-5EE4-4493-0409-1FBFCE875994}"/>
              </a:ext>
            </a:extLst>
          </p:cNvPr>
          <p:cNvGrpSpPr/>
          <p:nvPr/>
        </p:nvGrpSpPr>
        <p:grpSpPr>
          <a:xfrm>
            <a:off x="491199" y="2097834"/>
            <a:ext cx="5326384" cy="4634533"/>
            <a:chOff x="0" y="-28575"/>
            <a:chExt cx="2364475" cy="1247884"/>
          </a:xfrm>
        </p:grpSpPr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21FA0138-5831-8E52-F6F6-9A2370C2B547}"/>
                </a:ext>
              </a:extLst>
            </p:cNvPr>
            <p:cNvSpPr/>
            <p:nvPr/>
          </p:nvSpPr>
          <p:spPr>
            <a:xfrm>
              <a:off x="0" y="0"/>
              <a:ext cx="2364475" cy="1219309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EEF71E6C-7381-3F2F-12FD-7DF4E0F39C85}"/>
                </a:ext>
              </a:extLst>
            </p:cNvPr>
            <p:cNvSpPr txBox="1"/>
            <p:nvPr/>
          </p:nvSpPr>
          <p:spPr>
            <a:xfrm>
              <a:off x="0" y="-28575"/>
              <a:ext cx="2364475" cy="1198723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43" name="Group 9">
            <a:extLst>
              <a:ext uri="{FF2B5EF4-FFF2-40B4-BE49-F238E27FC236}">
                <a16:creationId xmlns:a16="http://schemas.microsoft.com/office/drawing/2014/main" id="{15E665DC-019C-A848-71BB-005FC3756E71}"/>
              </a:ext>
            </a:extLst>
          </p:cNvPr>
          <p:cNvGrpSpPr/>
          <p:nvPr/>
        </p:nvGrpSpPr>
        <p:grpSpPr>
          <a:xfrm>
            <a:off x="6327057" y="2048954"/>
            <a:ext cx="5672056" cy="4634533"/>
            <a:chOff x="0" y="-28575"/>
            <a:chExt cx="2364475" cy="1247884"/>
          </a:xfrm>
        </p:grpSpPr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51EFA049-3C21-D307-6A5F-16C092F2CF93}"/>
                </a:ext>
              </a:extLst>
            </p:cNvPr>
            <p:cNvSpPr/>
            <p:nvPr/>
          </p:nvSpPr>
          <p:spPr>
            <a:xfrm>
              <a:off x="0" y="0"/>
              <a:ext cx="2364475" cy="1219309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11">
              <a:extLst>
                <a:ext uri="{FF2B5EF4-FFF2-40B4-BE49-F238E27FC236}">
                  <a16:creationId xmlns:a16="http://schemas.microsoft.com/office/drawing/2014/main" id="{D18B2852-F11A-8FE0-B2C8-C1125DA3BFAB}"/>
                </a:ext>
              </a:extLst>
            </p:cNvPr>
            <p:cNvSpPr txBox="1"/>
            <p:nvPr/>
          </p:nvSpPr>
          <p:spPr>
            <a:xfrm>
              <a:off x="0" y="-28575"/>
              <a:ext cx="2364475" cy="1198723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46" name="Group 9">
            <a:extLst>
              <a:ext uri="{FF2B5EF4-FFF2-40B4-BE49-F238E27FC236}">
                <a16:creationId xmlns:a16="http://schemas.microsoft.com/office/drawing/2014/main" id="{29E61B3C-915A-8272-F43B-6FDCBE9C41BB}"/>
              </a:ext>
            </a:extLst>
          </p:cNvPr>
          <p:cNvGrpSpPr/>
          <p:nvPr/>
        </p:nvGrpSpPr>
        <p:grpSpPr>
          <a:xfrm>
            <a:off x="12470419" y="2062405"/>
            <a:ext cx="5364404" cy="4634533"/>
            <a:chOff x="0" y="-28575"/>
            <a:chExt cx="2364475" cy="1247884"/>
          </a:xfrm>
        </p:grpSpPr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3EBA2E24-939B-D273-9E2D-A860E89F018B}"/>
                </a:ext>
              </a:extLst>
            </p:cNvPr>
            <p:cNvSpPr/>
            <p:nvPr/>
          </p:nvSpPr>
          <p:spPr>
            <a:xfrm>
              <a:off x="0" y="0"/>
              <a:ext cx="2364475" cy="1219309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11">
              <a:extLst>
                <a:ext uri="{FF2B5EF4-FFF2-40B4-BE49-F238E27FC236}">
                  <a16:creationId xmlns:a16="http://schemas.microsoft.com/office/drawing/2014/main" id="{727F468C-3731-F534-C487-4FFF57F49CFE}"/>
                </a:ext>
              </a:extLst>
            </p:cNvPr>
            <p:cNvSpPr txBox="1"/>
            <p:nvPr/>
          </p:nvSpPr>
          <p:spPr>
            <a:xfrm>
              <a:off x="0" y="-28575"/>
              <a:ext cx="2364475" cy="1198723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49" name="Group 9">
            <a:extLst>
              <a:ext uri="{FF2B5EF4-FFF2-40B4-BE49-F238E27FC236}">
                <a16:creationId xmlns:a16="http://schemas.microsoft.com/office/drawing/2014/main" id="{BEE64CCB-FB29-2AD0-0E10-6201E16D7E17}"/>
              </a:ext>
            </a:extLst>
          </p:cNvPr>
          <p:cNvGrpSpPr/>
          <p:nvPr/>
        </p:nvGrpSpPr>
        <p:grpSpPr>
          <a:xfrm>
            <a:off x="452025" y="7121631"/>
            <a:ext cx="17381646" cy="1246906"/>
            <a:chOff x="0" y="-28575"/>
            <a:chExt cx="2364475" cy="1247884"/>
          </a:xfrm>
        </p:grpSpPr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E495C7C0-3A17-A9A8-01C5-369D34093ECB}"/>
                </a:ext>
              </a:extLst>
            </p:cNvPr>
            <p:cNvSpPr/>
            <p:nvPr/>
          </p:nvSpPr>
          <p:spPr>
            <a:xfrm>
              <a:off x="0" y="0"/>
              <a:ext cx="2364475" cy="1219309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11">
              <a:extLst>
                <a:ext uri="{FF2B5EF4-FFF2-40B4-BE49-F238E27FC236}">
                  <a16:creationId xmlns:a16="http://schemas.microsoft.com/office/drawing/2014/main" id="{906566BF-40F1-255E-9F50-E893DB299540}"/>
                </a:ext>
              </a:extLst>
            </p:cNvPr>
            <p:cNvSpPr txBox="1"/>
            <p:nvPr/>
          </p:nvSpPr>
          <p:spPr>
            <a:xfrm>
              <a:off x="0" y="-28575"/>
              <a:ext cx="2364475" cy="1198723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2D1AB569-CCAF-D248-0706-56F4B6335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5165" y="8009938"/>
            <a:ext cx="4934607" cy="32938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A4AA81F-1974-1196-4403-43610B40FCCC}"/>
              </a:ext>
            </a:extLst>
          </p:cNvPr>
          <p:cNvSpPr txBox="1"/>
          <p:nvPr/>
        </p:nvSpPr>
        <p:spPr>
          <a:xfrm>
            <a:off x="505220" y="453437"/>
            <a:ext cx="13286980" cy="6617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700" b="1" spc="843" dirty="0">
                <a:solidFill>
                  <a:srgbClr val="2B2C30"/>
                </a:solidFill>
                <a:latin typeface="Public Sans Bold"/>
                <a:sym typeface="Public Sans Bold"/>
              </a:rPr>
              <a:t>Whether to Sell DormDash or Not? </a:t>
            </a:r>
            <a:endParaRPr lang="en-US" sz="3700" dirty="0">
              <a:latin typeface="Playfair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DB369-B2BB-5004-7C7B-4DB63F62B7EA}"/>
              </a:ext>
            </a:extLst>
          </p:cNvPr>
          <p:cNvSpPr txBox="1"/>
          <p:nvPr/>
        </p:nvSpPr>
        <p:spPr>
          <a:xfrm>
            <a:off x="500115" y="1583842"/>
            <a:ext cx="11082285" cy="83715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latin typeface="Playfair Display"/>
              </a:rPr>
              <a:t>Decision</a:t>
            </a:r>
            <a:r>
              <a:rPr lang="en-US" sz="3200" dirty="0">
                <a:latin typeface="Playfair Display"/>
              </a:rPr>
              <a:t>: Not to Sell </a:t>
            </a:r>
          </a:p>
          <a:p>
            <a:endParaRPr lang="en-US" sz="3200" dirty="0">
              <a:latin typeface="Playfair Display"/>
            </a:endParaRPr>
          </a:p>
          <a:p>
            <a:r>
              <a:rPr lang="en-US" sz="3200" b="1" dirty="0">
                <a:latin typeface="Playfair Display"/>
              </a:rPr>
              <a:t>Financial Consideration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Playfair Display"/>
              </a:rPr>
              <a:t>Sale would generate substantial returns for both major and minority shareholders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Playfair Display"/>
              </a:rPr>
              <a:t>However, short-term financial gain does not outweigh long-term brand value</a:t>
            </a:r>
          </a:p>
          <a:p>
            <a:endParaRPr lang="en-US" sz="2400" dirty="0">
              <a:latin typeface="Playfair Display"/>
            </a:endParaRPr>
          </a:p>
          <a:p>
            <a:r>
              <a:rPr lang="en-US" sz="3200" b="1" dirty="0">
                <a:latin typeface="Playfair Display"/>
              </a:rPr>
              <a:t>Operational Risk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Playfair Display"/>
              </a:rPr>
              <a:t>New owners lack industry experience </a:t>
            </a:r>
            <a:r>
              <a:rPr lang="en-US" sz="2400" dirty="0">
                <a:latin typeface="Playfair Display"/>
                <a:sym typeface="Wingdings" pitchFamily="2" charset="2"/>
              </a:rPr>
              <a:t> </a:t>
            </a:r>
            <a:r>
              <a:rPr lang="en-US" sz="2400" dirty="0">
                <a:latin typeface="Playfair Display"/>
              </a:rPr>
              <a:t>high risk of mismanagement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Playfair Display"/>
              </a:rPr>
              <a:t>Service quality decline threatens DormDash's core value proposition</a:t>
            </a:r>
          </a:p>
          <a:p>
            <a:pPr marL="285750" indent="-285750">
              <a:buFont typeface="Arial"/>
              <a:buChar char="•"/>
            </a:pPr>
            <a:endParaRPr lang="en-US" sz="3200" dirty="0">
              <a:latin typeface="Playfair Display"/>
            </a:endParaRPr>
          </a:p>
          <a:p>
            <a:r>
              <a:rPr lang="en-US" sz="3200" b="1" dirty="0">
                <a:latin typeface="Playfair Display"/>
              </a:rPr>
              <a:t>Human Capital Impact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Playfair Display"/>
              </a:rPr>
              <a:t>Acquisition will likely trigger extensive employee layoffs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Playfair Display"/>
              </a:rPr>
              <a:t>Damages relationships with employees, customers, and delivery partners</a:t>
            </a:r>
          </a:p>
          <a:p>
            <a:endParaRPr lang="en-US" sz="3200" dirty="0">
              <a:latin typeface="Playfair Display"/>
            </a:endParaRPr>
          </a:p>
          <a:p>
            <a:r>
              <a:rPr lang="en-US" sz="3200" b="1" dirty="0">
                <a:latin typeface="Playfair Display"/>
              </a:rPr>
              <a:t>Strategic Conclusion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Playfair Display"/>
              </a:rPr>
              <a:t>Retaining ownership preserves long-term growth trajectory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Playfair Display"/>
              </a:rPr>
              <a:t>Aligns with DormDash's mission and ethical responsibility to all stakeholders</a:t>
            </a: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C1BCD61-9869-DACF-0C0A-5010357B3363}"/>
              </a:ext>
            </a:extLst>
          </p:cNvPr>
          <p:cNvSpPr/>
          <p:nvPr/>
        </p:nvSpPr>
        <p:spPr>
          <a:xfrm flipV="1">
            <a:off x="230756" y="1115156"/>
            <a:ext cx="16914244" cy="0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 descr="Banco de imagens : agente, acordo, patrão, debate, o negócio, homem de ...">
            <a:extLst>
              <a:ext uri="{FF2B5EF4-FFF2-40B4-BE49-F238E27FC236}">
                <a16:creationId xmlns:a16="http://schemas.microsoft.com/office/drawing/2014/main" id="{E1F6C04F-2FD0-CEAC-F5B7-DF160AC4E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851758" y="3152700"/>
            <a:ext cx="6041358" cy="3981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21B236-A115-1535-FA9E-095F0D2514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2456" y="7965762"/>
            <a:ext cx="4934607" cy="3293820"/>
          </a:xfrm>
          <a:prstGeom prst="rect">
            <a:avLst/>
          </a:prstGeom>
        </p:spPr>
      </p:pic>
      <p:grpSp>
        <p:nvGrpSpPr>
          <p:cNvPr id="15" name="Group 9">
            <a:extLst>
              <a:ext uri="{FF2B5EF4-FFF2-40B4-BE49-F238E27FC236}">
                <a16:creationId xmlns:a16="http://schemas.microsoft.com/office/drawing/2014/main" id="{21DEAD89-569A-DC55-1842-6B71D5A25F15}"/>
              </a:ext>
            </a:extLst>
          </p:cNvPr>
          <p:cNvGrpSpPr/>
          <p:nvPr/>
        </p:nvGrpSpPr>
        <p:grpSpPr>
          <a:xfrm>
            <a:off x="230756" y="1256567"/>
            <a:ext cx="11351644" cy="8698798"/>
            <a:chOff x="0" y="-28575"/>
            <a:chExt cx="2364475" cy="1247884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07465E9-1E18-7C23-590F-D37BD7C66C12}"/>
                </a:ext>
              </a:extLst>
            </p:cNvPr>
            <p:cNvSpPr/>
            <p:nvPr/>
          </p:nvSpPr>
          <p:spPr>
            <a:xfrm>
              <a:off x="0" y="0"/>
              <a:ext cx="2364475" cy="1219309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ln w="9525" cap="sq">
              <a:solidFill>
                <a:srgbClr val="2B2C3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704DBFE4-F421-5CF2-A703-0156C45DB0E8}"/>
                </a:ext>
              </a:extLst>
            </p:cNvPr>
            <p:cNvSpPr txBox="1"/>
            <p:nvPr/>
          </p:nvSpPr>
          <p:spPr>
            <a:xfrm>
              <a:off x="0" y="-28575"/>
              <a:ext cx="2364475" cy="1198723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793055" y="1585936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13108" y="-190500"/>
            <a:ext cx="16408332" cy="5502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250"/>
              </a:lnSpc>
            </a:pPr>
            <a:r>
              <a:rPr lang="en-US" sz="3700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Summary—Why DormDash Has Been Successful</a:t>
            </a:r>
            <a:endParaRPr lang="zh-CN" altLang="en-US" sz="3600" b="1" dirty="0">
              <a:latin typeface="Playfair Display" pitchFamily="2" charset="77"/>
              <a:cs typeface="Calibri"/>
            </a:endParaRPr>
          </a:p>
          <a:p>
            <a:pPr>
              <a:lnSpc>
                <a:spcPts val="15250"/>
              </a:lnSpc>
            </a:pPr>
            <a:endParaRPr lang="en-US" sz="3700" b="1" spc="843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15250"/>
              </a:lnSpc>
            </a:pPr>
            <a:r>
              <a:rPr lang="en-US" sz="3700" spc="83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48342E-4BA7-6E19-AC7A-E3D5C938BCC3}"/>
              </a:ext>
            </a:extLst>
          </p:cNvPr>
          <p:cNvSpPr txBox="1"/>
          <p:nvPr/>
        </p:nvSpPr>
        <p:spPr>
          <a:xfrm>
            <a:off x="793055" y="2560072"/>
            <a:ext cx="10665298" cy="65248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3200" b="1" dirty="0">
                <a:latin typeface="Playfair Display" pitchFamily="2" charset="77"/>
                <a:ea typeface="宋体"/>
              </a:rPr>
              <a:t>Core</a:t>
            </a:r>
            <a:r>
              <a:rPr lang="zh-CN" altLang="en-US" sz="3200" b="1" dirty="0">
                <a:latin typeface="Playfair Display" pitchFamily="2" charset="77"/>
                <a:ea typeface="宋体"/>
              </a:rPr>
              <a:t> </a:t>
            </a:r>
            <a:r>
              <a:rPr lang="en-US" altLang="zh-CN" sz="3200" b="1" dirty="0">
                <a:latin typeface="Playfair Display" pitchFamily="2" charset="77"/>
                <a:ea typeface="宋体"/>
              </a:rPr>
              <a:t>Strengths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Playfair Display" pitchFamily="2" charset="77"/>
                <a:ea typeface="宋体"/>
                <a:cs typeface="Calibri"/>
              </a:rPr>
              <a:t>Solves a real and immediate need for college students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Playfair Display" pitchFamily="2" charset="77"/>
                <a:ea typeface="宋体"/>
                <a:cs typeface="Calibri"/>
              </a:rPr>
              <a:t>Offers affordable, reliable, and campus-focused delivery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Playfair Display" pitchFamily="2" charset="77"/>
                <a:ea typeface="宋体"/>
                <a:cs typeface="Calibri"/>
              </a:rPr>
              <a:t>Built on a clear mission, values, and strategic objectives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zh-CN" altLang="en-US" sz="2400" dirty="0">
              <a:latin typeface="Playfair Display" pitchFamily="2" charset="77"/>
              <a:ea typeface="宋体"/>
              <a:cs typeface="Calibri"/>
            </a:endParaRPr>
          </a:p>
          <a:p>
            <a:r>
              <a:rPr lang="en-US" altLang="zh-CN" sz="3200" b="1" dirty="0">
                <a:latin typeface="Playfair Display" pitchFamily="2" charset="77"/>
                <a:ea typeface="宋体"/>
              </a:rPr>
              <a:t>Growth</a:t>
            </a:r>
            <a:r>
              <a:rPr lang="zh-CN" altLang="en-US" sz="3200" b="1" dirty="0">
                <a:latin typeface="Playfair Display" pitchFamily="2" charset="77"/>
                <a:ea typeface="宋体"/>
              </a:rPr>
              <a:t> </a:t>
            </a:r>
            <a:r>
              <a:rPr lang="en-US" altLang="zh-CN" sz="3200" b="1" dirty="0">
                <a:latin typeface="Playfair Display" pitchFamily="2" charset="77"/>
                <a:ea typeface="宋体"/>
              </a:rPr>
              <a:t>Potential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Playfair Display" pitchFamily="2" charset="77"/>
                <a:ea typeface="宋体"/>
                <a:cs typeface="Calibri"/>
              </a:rPr>
              <a:t>Expands revenue through products like Care Bundles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Playfair Display" pitchFamily="2" charset="77"/>
                <a:ea typeface="宋体"/>
                <a:cs typeface="Calibri"/>
              </a:rPr>
              <a:t>Scalable across U.S. campuses through a hybrid expansion model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Playfair Display" pitchFamily="2" charset="77"/>
                <a:ea typeface="宋体"/>
                <a:cs typeface="Calibri"/>
              </a:rPr>
              <a:t>Well-positioned for international growth, beginning with Canada </a:t>
            </a:r>
            <a:endParaRPr lang="zh-CN" altLang="en-US" sz="2400" dirty="0">
              <a:latin typeface="Playfair Display" pitchFamily="2" charset="77"/>
              <a:ea typeface="宋体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endParaRPr lang="zh-CN" altLang="en-US" sz="2000" dirty="0">
              <a:latin typeface="Playfair Display" pitchFamily="2" charset="77"/>
              <a:ea typeface="宋体"/>
              <a:cs typeface="Calibri"/>
            </a:endParaRPr>
          </a:p>
          <a:p>
            <a:r>
              <a:rPr lang="en-US" altLang="zh-CN" sz="3200" b="1" dirty="0">
                <a:latin typeface="Playfair Display" pitchFamily="2" charset="77"/>
                <a:ea typeface="宋体"/>
              </a:rPr>
              <a:t>Long-Term</a:t>
            </a:r>
            <a:r>
              <a:rPr lang="zh-CN" altLang="en-US" sz="3200" b="1" dirty="0">
                <a:latin typeface="Playfair Display" pitchFamily="2" charset="77"/>
                <a:ea typeface="宋体"/>
              </a:rPr>
              <a:t> </a:t>
            </a:r>
            <a:r>
              <a:rPr lang="en-US" altLang="zh-CN" sz="3200" b="1" dirty="0">
                <a:latin typeface="Playfair Display" pitchFamily="2" charset="77"/>
                <a:ea typeface="宋体"/>
              </a:rPr>
              <a:t>Advantage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Playfair Display" pitchFamily="2" charset="77"/>
                <a:ea typeface="宋体"/>
                <a:cs typeface="Calibri"/>
              </a:rPr>
              <a:t>Strengthened by CSR, employee-focused practices, and process improvement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Playfair Display" pitchFamily="2" charset="77"/>
                <a:ea typeface="宋体"/>
                <a:cs typeface="Calibri"/>
              </a:rPr>
              <a:t>Supported by efficiency and effectiveness measurement systems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Playfair Display" pitchFamily="2" charset="77"/>
                <a:ea typeface="宋体"/>
                <a:cs typeface="Calibri"/>
              </a:rPr>
              <a:t>Designed for sustainable and scalable business growth </a:t>
            </a:r>
            <a:endParaRPr lang="zh-CN" altLang="en-US" sz="2400" dirty="0">
              <a:latin typeface="Playfair Display" pitchFamily="2" charset="77"/>
              <a:ea typeface="宋体"/>
              <a:cs typeface="Calibri"/>
            </a:endParaRPr>
          </a:p>
          <a:p>
            <a:endParaRPr lang="zh-CN" sz="2800" dirty="0">
              <a:ea typeface="+mn-lt"/>
              <a:cs typeface="+mn-lt"/>
            </a:endParaRPr>
          </a:p>
        </p:txBody>
      </p:sp>
      <p:pic>
        <p:nvPicPr>
          <p:cNvPr id="11" name="图片 10" descr="成功是什么？你真的理解成功的含义吗？ - 知乎">
            <a:extLst>
              <a:ext uri="{FF2B5EF4-FFF2-40B4-BE49-F238E27FC236}">
                <a16:creationId xmlns:a16="http://schemas.microsoft.com/office/drawing/2014/main" id="{2D5C7348-D016-BF32-D12C-84A2ED1CF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7955" y="3238294"/>
            <a:ext cx="5245694" cy="4148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48B15D-FA93-690A-F360-EDC932F00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7188" y1="46094" x2="17513" y2="48438"/>
                        <a14:foregroundMark x1="24479" y1="48047" x2="24479" y2="49023"/>
                        <a14:foregroundMark x1="30013" y1="47363" x2="30013" y2="50195"/>
                        <a14:foregroundMark x1="34245" y1="48340" x2="34245" y2="50000"/>
                        <a14:foregroundMark x1="42904" y1="45996" x2="43099" y2="48926"/>
                        <a14:foregroundMark x1="49674" y1="47754" x2="49414" y2="49902"/>
                        <a14:foregroundMark x1="55078" y1="48047" x2="55469" y2="49219"/>
                        <a14:foregroundMark x1="59505" y1="47656" x2="59505" y2="49316"/>
                        <a14:foregroundMark x1="65234" y1="49023" x2="65234" y2="49023"/>
                        <a14:foregroundMark x1="65755" y1="51172" x2="65755" y2="51172"/>
                        <a14:foregroundMark x1="66146" y1="53223" x2="66146" y2="53223"/>
                        <a14:foregroundMark x1="66211" y1="56055" x2="66211" y2="56055"/>
                        <a14:backgroundMark x1="26172" y1="49023" x2="26172" y2="49023"/>
                        <a14:backgroundMark x1="51042" y1="49414" x2="51042" y2="49414"/>
                        <a14:backgroundMark x1="35612" y1="56641" x2="35612" y2="56641"/>
                        <a14:backgroundMark x1="49805" y1="56934" x2="49805" y2="56934"/>
                        <a14:backgroundMark x1="54883" y1="57129" x2="54883" y2="57129"/>
                        <a14:backgroundMark x1="57552" y1="57422" x2="57552" y2="57422"/>
                        <a14:backgroundMark x1="57943" y1="58398" x2="57943" y2="58398"/>
                        <a14:backgroundMark x1="57943" y1="57715" x2="57943" y2="57715"/>
                        <a14:backgroundMark x1="57943" y1="58008" x2="57943" y2="58789"/>
                        <a14:backgroundMark x1="53255" y1="56934" x2="53255" y2="56934"/>
                        <a14:backgroundMark x1="22266" y1="57715" x2="22266" y2="57715"/>
                        <a14:backgroundMark x1="21289" y1="57227" x2="32813" y2="57031"/>
                        <a14:backgroundMark x1="32813" y1="57031" x2="43750" y2="57617"/>
                        <a14:backgroundMark x1="43750" y1="57617" x2="25260" y2="56250"/>
                        <a14:backgroundMark x1="25260" y1="56250" x2="46094" y2="54785"/>
                        <a14:backgroundMark x1="46094" y1="54785" x2="54557" y2="57715"/>
                        <a14:backgroundMark x1="54557" y1="57715" x2="55599" y2="55762"/>
                        <a14:backgroundMark x1="58594" y1="57813" x2="54167" y2="56934"/>
                        <a14:backgroundMark x1="50065" y1="57813" x2="48047" y2="57324"/>
                        <a14:backgroundMark x1="46680" y1="57715" x2="46875" y2="573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00" y="7962900"/>
            <a:ext cx="4934607" cy="329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19075</TotalTime>
  <Words>1839</Words>
  <Application>Microsoft Office PowerPoint</Application>
  <PresentationFormat>Custom</PresentationFormat>
  <Paragraphs>338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Neutral Minimalist New Business Pitch Deck Presentation</dc:title>
  <cp:lastModifiedBy>Mahek Parekh</cp:lastModifiedBy>
  <cp:revision>7</cp:revision>
  <dcterms:created xsi:type="dcterms:W3CDTF">2006-08-16T00:00:00Z</dcterms:created>
  <dcterms:modified xsi:type="dcterms:W3CDTF">2026-10-01T20:54:21Z</dcterms:modified>
  <dc:identifier>DAHFut3HsI8</dc:identifier>
</cp:coreProperties>
</file>