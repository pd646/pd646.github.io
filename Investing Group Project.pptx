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CAD24A-9F75-4498-8B41-77764957F401}">
  <a:tblStyle styleId="{B0CAD24A-9F75-4498-8B41-77764957F4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aleway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742246d3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742246d3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7585cbef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7585cbef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7585cbef8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7585cbef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7585cbef8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7585cbef8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7585cbef8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7585cbef8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7585cbef8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7585cbef8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7585cbef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7585cbef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742246d3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742246d3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7732c74b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7732c74b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742246d3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742246d3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7585cbef8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7585cbef8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Relationship Id="rId6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10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202275" y="965650"/>
            <a:ext cx="8520600" cy="9129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latin typeface="Georgia"/>
                <a:ea typeface="Georgia"/>
                <a:cs typeface="Georgia"/>
                <a:sym typeface="Georgia"/>
              </a:rPr>
              <a:t>Market Movers</a:t>
            </a:r>
            <a:endParaRPr b="1" sz="55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1755725" y="2019375"/>
            <a:ext cx="5791800" cy="8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</a:rPr>
              <a:t>Dora Do , Sean Ng , Brian Phung , Nicole Ransome, Noemi Ventura , Hannah Yang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0800" y="2834469"/>
            <a:ext cx="2866100" cy="191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726" y="2834475"/>
            <a:ext cx="2873825" cy="191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423275" y="478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Sean Ng - Very Conservative </a:t>
            </a:r>
            <a:endParaRPr/>
          </a:p>
        </p:txBody>
      </p:sp>
      <p:pic>
        <p:nvPicPr>
          <p:cNvPr id="95" name="Google Shape;95;p14" title="Screenshot 2026-04-16 at 12.28.21 PM.png"/>
          <p:cNvPicPr preferRelativeResize="0"/>
          <p:nvPr/>
        </p:nvPicPr>
        <p:blipFill rotWithShape="1">
          <a:blip r:embed="rId3">
            <a:alphaModFix/>
          </a:blip>
          <a:srcRect b="0" l="13597" r="13771" t="0"/>
          <a:stretch/>
        </p:blipFill>
        <p:spPr>
          <a:xfrm>
            <a:off x="423275" y="1068875"/>
            <a:ext cx="4262298" cy="3564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title="Screenshot 2026-04-16 at 12.35.21 PM.png"/>
          <p:cNvPicPr preferRelativeResize="0"/>
          <p:nvPr/>
        </p:nvPicPr>
        <p:blipFill rotWithShape="1">
          <a:blip r:embed="rId4">
            <a:alphaModFix/>
          </a:blip>
          <a:srcRect b="0" l="21656" r="18653" t="0"/>
          <a:stretch/>
        </p:blipFill>
        <p:spPr>
          <a:xfrm>
            <a:off x="5107075" y="1072475"/>
            <a:ext cx="3496049" cy="3557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175875" y="434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Noemi Ventura - Conservative </a:t>
            </a:r>
            <a:endParaRPr sz="2320"/>
          </a:p>
        </p:txBody>
      </p:sp>
      <p:pic>
        <p:nvPicPr>
          <p:cNvPr id="102" name="Google Shape;102;p15" title="Screenshot 2026-04-16 at 12.29.14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5075" y="882233"/>
            <a:ext cx="6422774" cy="42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340875" y="435150"/>
            <a:ext cx="438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Dora, Very Conservative</a:t>
            </a:r>
            <a:endParaRPr/>
          </a:p>
        </p:txBody>
      </p:sp>
      <p:pic>
        <p:nvPicPr>
          <p:cNvPr id="108" name="Google Shape;108;p16" title="Screenshot 2026-04-16 at 1.07.41 PM.png"/>
          <p:cNvPicPr preferRelativeResize="0"/>
          <p:nvPr/>
        </p:nvPicPr>
        <p:blipFill rotWithShape="1">
          <a:blip r:embed="rId3">
            <a:alphaModFix/>
          </a:blip>
          <a:srcRect b="0" l="0" r="0" t="2172"/>
          <a:stretch/>
        </p:blipFill>
        <p:spPr>
          <a:xfrm>
            <a:off x="1638363" y="929725"/>
            <a:ext cx="5867274" cy="3960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218750" y="4942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Hannah Yang - Very Conservative</a:t>
            </a:r>
            <a:endParaRPr/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825" y="1072225"/>
            <a:ext cx="5067136" cy="3368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6952" y="1072213"/>
            <a:ext cx="3641750" cy="321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517875" y="552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Brian - Conservative</a:t>
            </a:r>
            <a:endParaRPr/>
          </a:p>
        </p:txBody>
      </p:sp>
      <p:pic>
        <p:nvPicPr>
          <p:cNvPr id="121" name="Google Shape;121;p18" title="Screenshot 2026-04-16 at 1.07.38 PM.png"/>
          <p:cNvPicPr preferRelativeResize="0"/>
          <p:nvPr/>
        </p:nvPicPr>
        <p:blipFill rotWithShape="1">
          <a:blip r:embed="rId3">
            <a:alphaModFix/>
          </a:blip>
          <a:srcRect b="0" l="-1647" r="0" t="-1647"/>
          <a:stretch/>
        </p:blipFill>
        <p:spPr>
          <a:xfrm>
            <a:off x="1619700" y="1088100"/>
            <a:ext cx="6032348" cy="39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384675" y="538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Nicole Ransome - Moderate/Conservative</a:t>
            </a:r>
            <a:endParaRPr/>
          </a:p>
        </p:txBody>
      </p:sp>
      <p:pic>
        <p:nvPicPr>
          <p:cNvPr id="127" name="Google Shape;127;p19" title="Screenshot 2026-04-20 at 12.58.5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5600"/>
            <a:ext cx="7451652" cy="376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" name="Google Shape;132;p20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{B0CAD24A-9F75-4498-8B41-77764957F401}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Netflix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Amazon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Exxon</a:t>
                      </a:r>
                      <a:r>
                        <a:rPr lang="en" sz="1200"/>
                        <a:t> Mobil Corp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Price/Earnings Ratio: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</a:rPr>
                        <a:t>42.83</a:t>
                      </a:r>
                      <a:endParaRPr sz="1200">
                        <a:solidFill>
                          <a:srgbClr val="202124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</a:rPr>
                        <a:t>34.68</a:t>
                      </a:r>
                      <a:endParaRPr sz="1200">
                        <a:solidFill>
                          <a:srgbClr val="202124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</a:rPr>
                        <a:t>21.90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Earnings Per Share: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</a:rPr>
                        <a:t>0.56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</a:rPr>
                        <a:t>7.17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</a:rPr>
                        <a:t>6.99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Profit Margin: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8.77%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</a:rPr>
                        <a:t>16.58%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</a:rPr>
                        <a:t>-10.37%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Total Gain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rgbClr val="00FF00"/>
                          </a:highlight>
                        </a:rPr>
                        <a:t>↑ 31%</a:t>
                      </a:r>
                      <a:endParaRPr sz="1200">
                        <a:highlight>
                          <a:srgbClr val="00FF00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00FF00"/>
                          </a:highlight>
                        </a:rPr>
                        <a:t>↑ </a:t>
                      </a:r>
                      <a:r>
                        <a:rPr lang="en" sz="1200">
                          <a:solidFill>
                            <a:srgbClr val="202124"/>
                          </a:solidFill>
                          <a:highlight>
                            <a:srgbClr val="00FF00"/>
                          </a:highlight>
                        </a:rPr>
                        <a:t>19%</a:t>
                      </a:r>
                      <a:endParaRPr sz="1200">
                        <a:solidFill>
                          <a:srgbClr val="202124"/>
                        </a:solidFill>
                        <a:highlight>
                          <a:srgbClr val="00FF00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00FF00"/>
                          </a:highlight>
                        </a:rPr>
                        <a:t>↑ </a:t>
                      </a:r>
                      <a:r>
                        <a:rPr lang="en" sz="1200">
                          <a:solidFill>
                            <a:srgbClr val="202124"/>
                          </a:solidFill>
                          <a:highlight>
                            <a:srgbClr val="00FF00"/>
                          </a:highlight>
                        </a:rPr>
                        <a:t>9%</a:t>
                      </a:r>
                      <a:endParaRPr sz="1200">
                        <a:solidFill>
                          <a:srgbClr val="202124"/>
                        </a:solidFill>
                        <a:highlight>
                          <a:srgbClr val="00FF00"/>
                        </a:highlight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33" name="Google Shape;133;p20"/>
          <p:cNvPicPr preferRelativeResize="0"/>
          <p:nvPr/>
        </p:nvPicPr>
        <p:blipFill rotWithShape="1">
          <a:blip r:embed="rId3">
            <a:alphaModFix/>
          </a:blip>
          <a:srcRect b="27025" l="0" r="0" t="17277"/>
          <a:stretch/>
        </p:blipFill>
        <p:spPr>
          <a:xfrm>
            <a:off x="2975175" y="999525"/>
            <a:ext cx="1343925" cy="74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0"/>
          <p:cNvPicPr preferRelativeResize="0"/>
          <p:nvPr/>
        </p:nvPicPr>
        <p:blipFill rotWithShape="1">
          <a:blip r:embed="rId4">
            <a:alphaModFix/>
          </a:blip>
          <a:srcRect b="29667" l="0" r="0" t="14703"/>
          <a:stretch/>
        </p:blipFill>
        <p:spPr>
          <a:xfrm>
            <a:off x="4865525" y="1027249"/>
            <a:ext cx="1245950" cy="69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0"/>
          <p:cNvPicPr preferRelativeResize="0"/>
          <p:nvPr/>
        </p:nvPicPr>
        <p:blipFill rotWithShape="1">
          <a:blip r:embed="rId5">
            <a:alphaModFix/>
          </a:blip>
          <a:srcRect b="22871" l="0" r="0" t="33341"/>
          <a:stretch/>
        </p:blipFill>
        <p:spPr>
          <a:xfrm>
            <a:off x="6657900" y="1111150"/>
            <a:ext cx="1199625" cy="52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/>
        </p:nvSpPr>
        <p:spPr>
          <a:xfrm>
            <a:off x="291800" y="481475"/>
            <a:ext cx="6150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Top 3 Investments</a:t>
            </a:r>
            <a:endParaRPr b="1" sz="2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289800" y="390775"/>
            <a:ext cx="602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Performing Company - Netflix(NFLX)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1" title="Screenshot 2026-04-18 at 1.58.4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475" y="905512"/>
            <a:ext cx="3357675" cy="216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 txBox="1"/>
          <p:nvPr/>
        </p:nvSpPr>
        <p:spPr>
          <a:xfrm>
            <a:off x="520150" y="3232150"/>
            <a:ext cx="2516100" cy="14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Market Capitalization: 410.80 Billion </a:t>
            </a:r>
            <a:r>
              <a:rPr lang="en" sz="1200">
                <a:solidFill>
                  <a:schemeClr val="dk2"/>
                </a:solidFill>
              </a:rPr>
              <a:t>USD  </a:t>
            </a:r>
            <a:r>
              <a:rPr lang="en" sz="1800">
                <a:solidFill>
                  <a:schemeClr val="dk2"/>
                </a:solidFill>
              </a:rPr>
              <a:t>(Mega-Cap) 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4" name="Google Shape;144;p21"/>
          <p:cNvPicPr preferRelativeResize="0"/>
          <p:nvPr/>
        </p:nvPicPr>
        <p:blipFill rotWithShape="1">
          <a:blip r:embed="rId4">
            <a:alphaModFix/>
          </a:blip>
          <a:srcRect b="35924" l="0" r="0" t="35518"/>
          <a:stretch/>
        </p:blipFill>
        <p:spPr>
          <a:xfrm>
            <a:off x="7008175" y="204300"/>
            <a:ext cx="20053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1" title="Screenshot 2026-04-16 at 1.25.23 PM.png"/>
          <p:cNvPicPr preferRelativeResize="0"/>
          <p:nvPr/>
        </p:nvPicPr>
        <p:blipFill rotWithShape="1">
          <a:blip r:embed="rId5">
            <a:alphaModFix/>
          </a:blip>
          <a:srcRect b="0" l="14757" r="11164" t="0"/>
          <a:stretch/>
        </p:blipFill>
        <p:spPr>
          <a:xfrm>
            <a:off x="3866750" y="875950"/>
            <a:ext cx="2550477" cy="215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1" title="Screenshot 2026-04-16 at 12.47.49 PM.png"/>
          <p:cNvPicPr preferRelativeResize="0"/>
          <p:nvPr/>
        </p:nvPicPr>
        <p:blipFill rotWithShape="1">
          <a:blip r:embed="rId6">
            <a:alphaModFix/>
          </a:blip>
          <a:srcRect b="8450" l="0" r="24300" t="0"/>
          <a:stretch/>
        </p:blipFill>
        <p:spPr>
          <a:xfrm>
            <a:off x="6458825" y="905500"/>
            <a:ext cx="2516183" cy="184837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 txBox="1"/>
          <p:nvPr/>
        </p:nvSpPr>
        <p:spPr>
          <a:xfrm>
            <a:off x="5975399" y="3290525"/>
            <a:ext cx="3168600" cy="11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(2) We discontinued our DVD-by-mail service in the year ended December 31, 2023. The discontinuance of our DVD business had an immaterial impact on our operations and financial results.</a:t>
            </a:r>
            <a:endParaRPr sz="13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116300" y="0"/>
            <a:ext cx="802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Top Performing Company - Amazon.com Inc(AMZN)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53" name="Google Shape;153;p22"/>
          <p:cNvSpPr txBox="1"/>
          <p:nvPr>
            <p:ph type="title"/>
          </p:nvPr>
        </p:nvSpPr>
        <p:spPr>
          <a:xfrm>
            <a:off x="5772500" y="695250"/>
            <a:ext cx="3188400" cy="40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38"/>
          </a:p>
          <a:p>
            <a:pPr indent="-358013" lvl="0" marL="457200" rtl="0" algn="l">
              <a:spcBef>
                <a:spcPts val="0"/>
              </a:spcBef>
              <a:spcAft>
                <a:spcPts val="0"/>
              </a:spcAft>
              <a:buSzPts val="2038"/>
              <a:buFont typeface="Arial"/>
              <a:buChar char="●"/>
            </a:pPr>
            <a:r>
              <a:rPr lang="en" sz="2038">
                <a:latin typeface="Arial"/>
                <a:ea typeface="Arial"/>
                <a:cs typeface="Arial"/>
                <a:sym typeface="Arial"/>
              </a:rPr>
              <a:t>Market Capitalization: 2.69T USD </a:t>
            </a:r>
            <a:endParaRPr sz="2038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38">
              <a:latin typeface="Arial"/>
              <a:ea typeface="Arial"/>
              <a:cs typeface="Arial"/>
              <a:sym typeface="Arial"/>
            </a:endParaRPr>
          </a:p>
          <a:p>
            <a:pPr indent="-358013" lvl="0" marL="457200" rtl="0" algn="l">
              <a:spcBef>
                <a:spcPts val="0"/>
              </a:spcBef>
              <a:spcAft>
                <a:spcPts val="0"/>
              </a:spcAft>
              <a:buSzPts val="2038"/>
              <a:buFont typeface="Arial"/>
              <a:buChar char="●"/>
            </a:pPr>
            <a:r>
              <a:rPr lang="en" sz="2038">
                <a:latin typeface="Arial"/>
                <a:ea typeface="Arial"/>
                <a:cs typeface="Arial"/>
                <a:sym typeface="Arial"/>
              </a:rPr>
              <a:t>Range: Mega-cap.</a:t>
            </a:r>
            <a:endParaRPr sz="2038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22" title="Screenshot 2026-04-20 at 12.01.08 AM.png"/>
          <p:cNvPicPr preferRelativeResize="0"/>
          <p:nvPr/>
        </p:nvPicPr>
        <p:blipFill rotWithShape="1">
          <a:blip r:embed="rId3">
            <a:alphaModFix/>
          </a:blip>
          <a:srcRect b="0" l="9998" r="11583" t="2267"/>
          <a:stretch/>
        </p:blipFill>
        <p:spPr>
          <a:xfrm>
            <a:off x="831900" y="522700"/>
            <a:ext cx="4484076" cy="317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2"/>
          <p:cNvSpPr txBox="1"/>
          <p:nvPr/>
        </p:nvSpPr>
        <p:spPr>
          <a:xfrm>
            <a:off x="0" y="3608100"/>
            <a:ext cx="9090000" cy="15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Amazon’s net sales increased from about $638 billion to $717 billion, driven mainly by strong growth in AWS, which remains its most important and profitable segment.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Operating income also rose from about $68.6 billion to $80.0 billion, although higher costs in fulfillment, shipping, and technology infrastructure partially offset these gains.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Amazon significantly increased its investments in AI, AWS, and infrastructure, which caused free cash flow to drop from about $38 billion to $11 billion, reflecting a focus on long-term growth over short-term cash returns.</a:t>
            </a:r>
            <a:endParaRPr sz="1300"/>
          </a:p>
        </p:txBody>
      </p:sp>
      <p:pic>
        <p:nvPicPr>
          <p:cNvPr id="156" name="Google Shape;156;p22"/>
          <p:cNvPicPr preferRelativeResize="0"/>
          <p:nvPr/>
        </p:nvPicPr>
        <p:blipFill rotWithShape="1">
          <a:blip r:embed="rId4">
            <a:alphaModFix/>
          </a:blip>
          <a:srcRect b="30250" l="0" r="0" t="0"/>
          <a:stretch/>
        </p:blipFill>
        <p:spPr>
          <a:xfrm>
            <a:off x="7787900" y="522696"/>
            <a:ext cx="1245950" cy="86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type="title"/>
          </p:nvPr>
        </p:nvSpPr>
        <p:spPr>
          <a:xfrm>
            <a:off x="311700" y="4345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8"/>
              <a:buFont typeface="Arial"/>
              <a:buNone/>
            </a:pPr>
            <a:r>
              <a:rPr lang="en"/>
              <a:t>Top Performing Company - Exxon Mobil Corp(XOM)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2" name="Google Shape;162;p23" title="Screenshot 2026-04-20 at 12.25.0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225" y="1276775"/>
            <a:ext cx="3671050" cy="211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3"/>
          <p:cNvSpPr txBox="1"/>
          <p:nvPr/>
        </p:nvSpPr>
        <p:spPr>
          <a:xfrm>
            <a:off x="401300" y="3516550"/>
            <a:ext cx="3000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Market Capitalization: 609.69 Billion </a:t>
            </a:r>
            <a:r>
              <a:rPr lang="en" sz="1200">
                <a:solidFill>
                  <a:schemeClr val="dk2"/>
                </a:solidFill>
              </a:rPr>
              <a:t>USD  </a:t>
            </a:r>
            <a:r>
              <a:rPr lang="en" sz="1800">
                <a:solidFill>
                  <a:schemeClr val="dk2"/>
                </a:solidFill>
              </a:rPr>
              <a:t>(Mega-Cap) 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4" name="Google Shape;16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2375" y="124025"/>
            <a:ext cx="1193675" cy="119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3"/>
          <p:cNvSpPr txBox="1"/>
          <p:nvPr/>
        </p:nvSpPr>
        <p:spPr>
          <a:xfrm>
            <a:off x="4695600" y="3633325"/>
            <a:ext cx="41367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Pursuit of lower-emission and other new business opportunities, including carbon capture and storage, hydrogen and ammonia, lower-emission fuels, ProxximaTM resin systems, carbon materials, low-carbon data centers, and lithium.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66" name="Google Shape;166;p23" title="Screenshot 2026-04-20 at 12.36.13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7075" y="1398600"/>
            <a:ext cx="2409125" cy="1993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3" title="Screenshot 2026-04-20 at 12.39.56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63050" y="1534875"/>
            <a:ext cx="2273000" cy="1881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>
            <p:ph type="title"/>
          </p:nvPr>
        </p:nvSpPr>
        <p:spPr>
          <a:xfrm>
            <a:off x="342775" y="5161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Would Do Differently Today</a:t>
            </a:r>
            <a:endParaRPr/>
          </a:p>
        </p:txBody>
      </p:sp>
      <p:sp>
        <p:nvSpPr>
          <p:cNvPr id="173" name="Google Shape;173;p24"/>
          <p:cNvSpPr txBox="1"/>
          <p:nvPr>
            <p:ph idx="1" type="body"/>
          </p:nvPr>
        </p:nvSpPr>
        <p:spPr>
          <a:xfrm>
            <a:off x="625400" y="1444325"/>
            <a:ext cx="4897500" cy="13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">
                <a:solidFill>
                  <a:schemeClr val="dk2"/>
                </a:solidFill>
              </a:rPr>
              <a:t>Define a goal, choose a time frame, and determine our risk tolerance</a:t>
            </a:r>
            <a:endParaRPr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>
                <a:solidFill>
                  <a:schemeClr val="dk2"/>
                </a:solidFill>
              </a:rPr>
              <a:t>Read key </a:t>
            </a:r>
            <a:r>
              <a:rPr lang="en">
                <a:solidFill>
                  <a:schemeClr val="dk2"/>
                </a:solidFill>
              </a:rPr>
              <a:t>financial documents like 10-K and MD&amp;A section</a:t>
            </a:r>
            <a:endParaRPr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>
                <a:solidFill>
                  <a:schemeClr val="dk2"/>
                </a:solidFill>
              </a:rPr>
              <a:t>Look at industry trends and overall market sentiment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5525" y="656550"/>
            <a:ext cx="28575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5175" y="2983975"/>
            <a:ext cx="3817850" cy="182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